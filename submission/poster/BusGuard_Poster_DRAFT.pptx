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d9f7e70974a00" /><Relationship Type="http://schemas.openxmlformats.org/officeDocument/2006/relationships/extended-properties" Target="/docProps/app.xml" Id="Rb127e34477b642e4" /><Relationship Type="http://schemas.openxmlformats.org/officeDocument/2006/relationships/officeDocument" Target="/ppt/presentation.xml" Id="R38a8a224fb4a405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b99afaf9efa4542"/>
  </p:sldMasterIdLst>
  <p:notesMasterIdLst>
    <p:notesMasterId xmlns:r="http://schemas.openxmlformats.org/officeDocument/2006/relationships" r:id="Rcc77cd13363a494a"/>
  </p:notesMasterIdLst>
  <p:sldIdLst>
    <p:sldId xmlns:r="http://schemas.openxmlformats.org/officeDocument/2006/relationships" id="256" r:id="R8f4360fdc9384c89"/>
  </p:sldIdLst>
  <p:sldSz cx="8001000" cy="11328400"/>
  <p:notesSz cx="6858000" cy="9144000"/>
  <p:embeddedFontLst>
    <p:embeddedFont>
      <p:font typeface="Agency FB Bold"/>
      <p:bold xmlns:r="http://schemas.openxmlformats.org/officeDocument/2006/relationships" r:id="R8b23021885514c8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26bc5082540eb" /><Relationship Type="http://schemas.openxmlformats.org/officeDocument/2006/relationships/slideMaster" Target="/ppt/slideMasters/slideMaster1.xml" Id="Reb99afaf9efa4542" /><Relationship Type="http://schemas.openxmlformats.org/officeDocument/2006/relationships/notesMaster" Target="/ppt/notesMasters/notesMaster1.xml" Id="Rcc77cd13363a494a" /><Relationship Type="http://schemas.openxmlformats.org/officeDocument/2006/relationships/presProps" Target="/ppt/presProps.xml" Id="R493931b5e5c445b5" /><Relationship Type="http://schemas.openxmlformats.org/officeDocument/2006/relationships/viewProps" Target="/ppt/viewProps.xml" Id="R3c8e1b688e1b4166" /><Relationship Type="http://schemas.openxmlformats.org/officeDocument/2006/relationships/tableStyles" Target="/ppt/tableStyles.xml" Id="R3df89759f42e436c" /><Relationship Type="http://schemas.openxmlformats.org/officeDocument/2006/relationships/font" Target="/ppt/fonts/font.dat" Id="R8b23021885514c8b" /><Relationship Type="http://schemas.openxmlformats.org/officeDocument/2006/relationships/slide" Target="/ppt/slides/slide1.xml" Id="R8f4360fdc938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7606e409e24c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5af3c118a42bc" /><Relationship Type="http://schemas.openxmlformats.org/officeDocument/2006/relationships/notesMaster" Target="/ppt/notesMasters/notesMaster1.xml" Id="R6b1830769e55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BusGuard / Singapore Polytechnic. Team name and member names are awaiting confirmation. Source: vision4479/README.md, docs/SYSTEM_WORKFLOW.md, docs/ARCHITECTURE.md, docs/VALIDATION_CURRENT.md (29 September 2026). Actual project screenshot supplied from an isolated demonstration backend; it is a 3D visualization, not a live-camera result or physical ramp demonstration. CCTV cameras and ESP32 + RC522 RFID reader are physical inputs. Doors, ramp, vehicle motion and mobility-position confirmation are simulated. Source verification recorded 936 backend and 307 browser tests passing and a successful 3D build; this is not measured detection accuracy or user-study evidence. No-standing is a detector result, not proof that every passenger is seated. Standing detection and camera placement require evaluation. The official template is 8001000 × 11328400 EMU (222.25 × 314.6778 mm); its filename suggests a larger poster but the intended print dimensions require confirmation. Official template background and competition branding retained. Singapore Polytechnic logo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c1fe3104649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602b9d43e48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4e53f728940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3a3fb400046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52a739ab548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bde74098541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9609aee4d43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4d89b033a40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55f3e3d0d4f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9cda57a9d48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2fca1208c403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AFB781-01C6-4784-972C-8375BFC9B5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AEAF067-F00F-4294-939B-DA1E77EC4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B76FE2-BBF5-4118-99DA-097DB14F69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58B7F8-FEDD-405C-AA30-C80400043B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A236DC-FC59-40C5-911A-1227EF1CA2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120267-830A-43C3-8395-3513CA1CF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6A47B7-B1C3-48E2-9A50-03541A8463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768497-9C28-4EFC-941C-040D421CBF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E473AA-C203-4E5B-9E60-EA910C065F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A0AD83-3EE9-4D92-86EC-FABC1B506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A9F82E-9737-46D7-9169-D0BAB3CD8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2173A2-C23B-402E-AAC2-72B4E62CC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63ACA1-5F82-458D-A274-9FF35B2197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BC2EBF-9EFA-4327-AF19-1EE3E7E72F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48E66E-510A-41C9-8AE4-FD25ECAEBA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E5ED1C-C756-466F-B608-1E787BDB8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CD63E-C56D-46CD-B11C-328759ACCD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0BDE9C8-48A1-453E-9F65-885CF4B40A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8E0AB4C-1AC1-4BDA-A4B8-111E1E6296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3C780F-7205-4BC5-AC3A-EBE765AB16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B25E8E-7083-468D-9889-044BAD4F2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CEE523-FA88-4528-814E-E7EAF7E7B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9E6196-892A-4342-A9E2-8AAEA22A42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BF947F-2164-462E-9D8D-453B0633069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817E2F5-81E4-4A00-9692-B8B9D79D1E1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B3B0698-FC17-4F84-B276-0B5FE12FCDF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1FB2E3B-1B16-4E18-A2FC-3BD08DD248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C90266-FE61-4006-A677-166FBB1B80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6252AB1-7987-4AE6-A5E1-703B0F51E4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A582A-DBF4-43A7-BDFF-90E37779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08CADAC-4432-4F27-B7B0-FA7DAE2BE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C7D5481-0E77-44D3-B403-0EEFEC6CAF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26A98-07D8-4D19-98BD-689835C595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2656C50-C750-4FBE-B504-A639073141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401849-005C-499C-84B6-7EB3C39E8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6DD0A0A-9C06-4F84-A9EB-C081F36E5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34776F-35A6-4968-9661-DEF59E7DF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2ED531-6166-4488-8D6C-DF0E170BD0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9F808C9-EC97-42D4-BA17-58C37CCF96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788A0D6-7335-42D0-9B2E-916AA2D72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7D4BDE-3B3A-4BF9-BD82-C2618A86C6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9F7CFD-617A-4FBB-B00F-D6DB6FAEE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EE873-BA72-4156-BD38-842B04C22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3FF2921-C7ED-4681-B161-A4067BF1B2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5C7876A-75DF-449F-939C-D365BFBE5B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1BA7E5-E8F3-4713-A532-AF4B609CE1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07A2E4-A0F6-4FB1-BD3D-EAABD0C24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8470D3-BF67-4BC3-930D-FA5BB88D2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E21F32-DC60-42DE-9BD3-BF56A22BE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300FF8-3F2E-4D76-A292-35BFA0A6E1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257807-05A7-4749-BF1B-5DA9E1E4F3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93C523-4940-424E-B3C9-AB54514443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1CF6B9-CA45-44B8-8860-4A182BA767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F439835-920C-4361-BCCE-BA5FD7A58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C8A7BA-E9CF-4891-A1BB-2E90667718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EC9839-BD1C-45D0-A332-D829AE79DB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45CA1B-7DEE-4133-8F7E-6155436D5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FB9107-BDB3-4FD7-8BE6-B221242C2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bc807404e4aa8" /><Relationship Type="http://schemas.openxmlformats.org/officeDocument/2006/relationships/slideLayout" Target="/ppt/slideLayouts/slideLayout1.xml" Id="R38615248109a4cab" /><Relationship Type="http://schemas.openxmlformats.org/officeDocument/2006/relationships/slideLayout" Target="/ppt/slideLayouts/slideLayout2.xml" Id="R71a1bdc917cd4833" /><Relationship Type="http://schemas.openxmlformats.org/officeDocument/2006/relationships/slideLayout" Target="/ppt/slideLayouts/slideLayout3.xml" Id="Re8e66ffadd934a99" /><Relationship Type="http://schemas.openxmlformats.org/officeDocument/2006/relationships/slideLayout" Target="/ppt/slideLayouts/slideLayout4.xml" Id="R45f9d3665e6449d0" /><Relationship Type="http://schemas.openxmlformats.org/officeDocument/2006/relationships/slideLayout" Target="/ppt/slideLayouts/slideLayout5.xml" Id="Rfe19a1bebe0a47e1" /><Relationship Type="http://schemas.openxmlformats.org/officeDocument/2006/relationships/slideLayout" Target="/ppt/slideLayouts/slideLayout6.xml" Id="R54670559f8004eea" /><Relationship Type="http://schemas.openxmlformats.org/officeDocument/2006/relationships/slideLayout" Target="/ppt/slideLayouts/slideLayout7.xml" Id="R83297567adb84725" /><Relationship Type="http://schemas.openxmlformats.org/officeDocument/2006/relationships/slideLayout" Target="/ppt/slideLayouts/slideLayout8.xml" Id="R2d646a603b12461f" /><Relationship Type="http://schemas.openxmlformats.org/officeDocument/2006/relationships/slideLayout" Target="/ppt/slideLayouts/slideLayout9.xml" Id="R21eb325c75e947e9" /><Relationship Type="http://schemas.openxmlformats.org/officeDocument/2006/relationships/slideLayout" Target="/ppt/slideLayouts/slideLayout10.xml" Id="Rcdd1f36c544d4df2" /><Relationship Type="http://schemas.openxmlformats.org/officeDocument/2006/relationships/slideLayout" Target="/ppt/slideLayouts/slideLayout11.xml" Id="R252d2a4e8da84a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4CFC89D-E5A3-456D-A535-6519D636FF4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28E0F2-9F0B-48C8-B100-996288CD1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4DAC91-2B51-4D59-BDC6-790E3E96BA7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17-Aug-26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FFC42C-3B5F-4B54-A81A-8B5A1AF3B3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B6B867-B7D8-47DA-A015-B355644C8B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15248109a4cab"/>
    <p:sldLayoutId xmlns:r="http://schemas.openxmlformats.org/officeDocument/2006/relationships" id="2147483650" r:id="R71a1bdc917cd4833"/>
    <p:sldLayoutId xmlns:r="http://schemas.openxmlformats.org/officeDocument/2006/relationships" id="2147483651" r:id="Re8e66ffadd934a99"/>
    <p:sldLayoutId xmlns:r="http://schemas.openxmlformats.org/officeDocument/2006/relationships" id="2147483652" r:id="R45f9d3665e6449d0"/>
    <p:sldLayoutId xmlns:r="http://schemas.openxmlformats.org/officeDocument/2006/relationships" id="2147483653" r:id="Rfe19a1bebe0a47e1"/>
    <p:sldLayoutId xmlns:r="http://schemas.openxmlformats.org/officeDocument/2006/relationships" id="2147483654" r:id="R54670559f8004eea"/>
    <p:sldLayoutId xmlns:r="http://schemas.openxmlformats.org/officeDocument/2006/relationships" id="2147483655" r:id="R83297567adb84725"/>
    <p:sldLayoutId xmlns:r="http://schemas.openxmlformats.org/officeDocument/2006/relationships" id="2147483656" r:id="R2d646a603b12461f"/>
    <p:sldLayoutId xmlns:r="http://schemas.openxmlformats.org/officeDocument/2006/relationships" id="2147483657" r:id="R21eb325c75e947e9"/>
    <p:sldLayoutId xmlns:r="http://schemas.openxmlformats.org/officeDocument/2006/relationships" id="2147483658" r:id="Rcdd1f36c544d4df2"/>
    <p:sldLayoutId xmlns:r="http://schemas.openxmlformats.org/officeDocument/2006/relationships" id="2147483659" r:id="R252d2a4e8da84a10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be52205e7445ad" /><Relationship Type="http://schemas.openxmlformats.org/officeDocument/2006/relationships/image" Target="/ppt/media/image.png" Id="Rb2200ab904cd427b" /><Relationship Type="http://schemas.openxmlformats.org/officeDocument/2006/relationships/image" Target="/ppt/media/image.svg" Id="Ra4bc91c487c342fb" /><Relationship Type="http://schemas.openxmlformats.org/officeDocument/2006/relationships/image" Target="/ppt/media/image2.png" Id="R29e0a88d20a448ee" /><Relationship Type="http://schemas.openxmlformats.org/officeDocument/2006/relationships/image" Target="/ppt/media/image2.svg" Id="R9c7e3d732e29457e" /><Relationship Type="http://schemas.openxmlformats.org/officeDocument/2006/relationships/image" Target="/ppt/media/image3.png" Id="R6e254f189c154f79" /><Relationship Type="http://schemas.openxmlformats.org/officeDocument/2006/relationships/image" Target="/ppt/media/image3.svg" Id="Ra89a2a0aa1a048d9" /><Relationship Type="http://schemas.openxmlformats.org/officeDocument/2006/relationships/image" Target="/ppt/media/image4.png" Id="R69cb605fe4784a3f" /><Relationship Type="http://schemas.openxmlformats.org/officeDocument/2006/relationships/image" Target="/ppt/media/image5.png" Id="R4a5819886ab24689" /><Relationship Type="http://schemas.openxmlformats.org/officeDocument/2006/relationships/image" Target="/ppt/media/image6.png" Id="R9730e6a8725a4340" /><Relationship Type="http://schemas.openxmlformats.org/officeDocument/2006/relationships/image" Target="/ppt/media/image7.png" Id="R913384f8a1554af0" /><Relationship Type="http://schemas.openxmlformats.org/officeDocument/2006/relationships/image" Target="/ppt/media/image4.svg" Id="Rdaa52e5f6abd4841" /><Relationship Type="http://schemas.openxmlformats.org/officeDocument/2006/relationships/image" Target="/ppt/media/image8.png" Id="Rf660c43a089b48b5" /><Relationship Type="http://schemas.openxmlformats.org/officeDocument/2006/relationships/image" Target="/ppt/media/image5.svg" Id="R2958e15b65e3483c" /><Relationship Type="http://schemas.openxmlformats.org/officeDocument/2006/relationships/image" Target="/ppt/media/image9.png" Id="R0edd8e9877c1427a" /><Relationship Type="http://schemas.openxmlformats.org/officeDocument/2006/relationships/image" Target="/ppt/media/image6.svg" Id="R0529542431924d34" /><Relationship Type="http://schemas.openxmlformats.org/officeDocument/2006/relationships/image" Target="/ppt/media/image10.png" Id="R61211b10eb844baf" /><Relationship Type="http://schemas.openxmlformats.org/officeDocument/2006/relationships/image" Target="/ppt/media/image11.png" Id="R45d12236ac43435c" /><Relationship Type="http://schemas.openxmlformats.org/officeDocument/2006/relationships/image" Target="/ppt/media/image7.svg" Id="R64e3fa7b67114f1b" /><Relationship Type="http://schemas.openxmlformats.org/officeDocument/2006/relationships/image" Target="/ppt/media/image.jpeg" Id="R7f2a2ab4948c4d34" /><Relationship Type="http://schemas.openxmlformats.org/officeDocument/2006/relationships/image" Target="/ppt/media/image2.jpeg" Id="R82df8f64b73a406b" /><Relationship Type="http://schemas.openxmlformats.org/officeDocument/2006/relationships/notesSlide" Target="/ppt/notesSlides/notesSlide1.xml" Id="R6b756f16a0c44b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A05AB63-3D0F-4D2D-A510-6D714F9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" y="74378"/>
            <a:ext cx="8001000" cy="11334750"/>
          </a:xfrm>
          <a:custGeom xmlns:a="http://schemas.openxmlformats.org/drawingml/2006/main">
            <a:rect l="l" t="t" r="r" b="b"/>
            <a:pathLst>
              <a:path w="4091491" h="4354612">
                <a:moveTo>
                  <a:pt x="0" y="0"/>
                </a:moveTo>
                <a:lnTo>
                  <a:pt x="4091491" y="0"/>
                </a:lnTo>
                <a:lnTo>
                  <a:pt x="4091491" y="4354612"/>
                </a:lnTo>
                <a:lnTo>
                  <a:pt x="0" y="4354612"/>
                </a:lnTo>
                <a:close/>
              </a:path>
            </a:pathLst>
          </a:custGeom>
          <a:solidFill xmlns:a="http://schemas.openxmlformats.org/drawingml/2006/main">
            <a:srgbClr val="68CD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42BC7-00D2-4CD0-94A6-7662B66E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" y="0"/>
            <a:ext cx="8000999" cy="1140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7822" tIns="17822" rIns="17822" bIns="17822" anchor="ctr"/>
          <a:lstStyle xmlns:a="http://schemas.openxmlformats.org/drawingml/2006/main"/>
          <a:p xmlns:a="http://schemas.openxmlformats.org/drawingml/2006/main">
            <a:pPr algn="ctr">
              <a:lnSpc>
                <a:spcPts val="1424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2C6D207-B58F-48BA-8F1B-477D6B4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3867247"/>
            <a:ext cx="5614099" cy="7472741"/>
          </a:xfrm>
          <a:custGeom xmlns:a="http://schemas.openxmlformats.org/drawingml/2006/main">
            <a:rect l="l" t="t" r="r" b="b"/>
            <a:pathLst>
              <a:path w="9963655" h="9963655">
                <a:moveTo>
                  <a:pt x="0" y="0"/>
                </a:moveTo>
                <a:lnTo>
                  <a:pt x="9963655" y="0"/>
                </a:lnTo>
                <a:lnTo>
                  <a:pt x="9963655" y="9963655"/>
                </a:lnTo>
                <a:lnTo>
                  <a:pt x="0" y="996365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200ab904cd427b">
              <a:alphaModFix amt="32999"/>
              <a:extLst>
                <a:ext uri="{96DAC541-7B7A-43D3-8B79-37D633B846F1}">
                  <asvg:svgBlip xmlns:asvg="http://schemas.microsoft.com/office/drawing/2016/SVG/main" r:embed="Ra4bc91c487c342f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EEB44EE-F513-4715-9771-BEE4393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7229752" y="0"/>
            <a:ext cx="10134050" cy="10134050"/>
          </a:xfrm>
          <a:custGeom xmlns:a="http://schemas.openxmlformats.org/drawingml/2006/main">
            <a:rect l="l" t="t" r="r" b="b"/>
            <a:pathLst>
              <a:path w="10134050" h="10134050">
                <a:moveTo>
                  <a:pt x="0" y="0"/>
                </a:moveTo>
                <a:lnTo>
                  <a:pt x="10134050" y="0"/>
                </a:lnTo>
                <a:lnTo>
                  <a:pt x="10134050" y="10134050"/>
                </a:lnTo>
                <a:lnTo>
                  <a:pt x="0" y="101340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e0a88d20a448ee">
              <a:extLst>
                <a:ext uri="{96DAC541-7B7A-43D3-8B79-37D633B846F1}">
                  <asvg:svgBlip xmlns:asvg="http://schemas.microsoft.com/office/drawing/2016/SVG/main" r:embed="R9c7e3d732e29457e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E9187BF-5959-4AB9-8048-3336AF8F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0">
            <a:off x="4854811" y="10094287"/>
            <a:ext cx="3208142" cy="1234113"/>
          </a:xfrm>
          <a:custGeom xmlns:a="http://schemas.openxmlformats.org/drawingml/2006/main">
            <a:rect l="l" t="t" r="r" b="b"/>
            <a:pathLst>
              <a:path w="3208142" h="3208142">
                <a:moveTo>
                  <a:pt x="0" y="0"/>
                </a:moveTo>
                <a:lnTo>
                  <a:pt x="3208141" y="0"/>
                </a:lnTo>
                <a:lnTo>
                  <a:pt x="3208141" y="3208141"/>
                </a:lnTo>
                <a:lnTo>
                  <a:pt x="0" y="320814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254f189c154f79">
              <a:extLst>
                <a:ext uri="{96DAC541-7B7A-43D3-8B79-37D633B846F1}">
                  <asvg:svgBlip xmlns:asvg="http://schemas.microsoft.com/office/drawing/2016/SVG/main" r:embed="Ra89a2a0aa1a048d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A4DD58A-AE1F-4C4A-8884-20898593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62981" y="1615421"/>
            <a:ext cx="10533698" cy="7348559"/>
          </a:xfrm>
          <a:custGeom xmlns:a="http://schemas.openxmlformats.org/drawingml/2006/main">
            <a:rect l="l" t="t" r="r" b="b"/>
            <a:pathLst>
              <a:path w="3625381" h="2983200">
                <a:moveTo>
                  <a:pt x="72762" y="0"/>
                </a:moveTo>
                <a:lnTo>
                  <a:pt x="3552620" y="0"/>
                </a:lnTo>
                <a:cubicBezTo>
                  <a:pt x="3592805" y="0"/>
                  <a:pt x="3625381" y="32577"/>
                  <a:pt x="3625381" y="72762"/>
                </a:cubicBezTo>
                <a:lnTo>
                  <a:pt x="3625381" y="2910439"/>
                </a:lnTo>
                <a:cubicBezTo>
                  <a:pt x="3625381" y="2950624"/>
                  <a:pt x="3592805" y="2983200"/>
                  <a:pt x="3552620" y="2983200"/>
                </a:cubicBezTo>
                <a:lnTo>
                  <a:pt x="72762" y="2983200"/>
                </a:lnTo>
                <a:cubicBezTo>
                  <a:pt x="32577" y="2983200"/>
                  <a:pt x="0" y="2950624"/>
                  <a:pt x="0" y="2910439"/>
                </a:cubicBezTo>
                <a:lnTo>
                  <a:pt x="0" y="72762"/>
                </a:lnTo>
                <a:cubicBezTo>
                  <a:pt x="0" y="32577"/>
                  <a:pt x="32577" y="0"/>
                  <a:pt x="7276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CEF4186-4C73-452C-AA1F-40BC0FD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62981" y="1569718"/>
            <a:ext cx="10533698" cy="7202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802" tIns="12802" rIns="12802" bIns="12802" anchor="ctr"/>
          <a:lstStyle xmlns:a="http://schemas.openxmlformats.org/drawingml/2006/main"/>
          <a:p xmlns:a="http://schemas.openxmlformats.org/drawingml/2006/main">
            <a:pPr algn="ctr">
              <a:lnSpc>
                <a:spcPts val="1023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C631215-610E-42DE-9323-6533310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1723" y="-839284"/>
            <a:ext cx="5669995" cy="7348562"/>
          </a:xfrm>
          <a:custGeom xmlns:a="http://schemas.openxmlformats.org/drawingml/2006/main">
            <a:rect l="l" t="t" r="r" b="b"/>
            <a:pathLst>
              <a:path w="2065102" h="2983200">
                <a:moveTo>
                  <a:pt x="0" y="0"/>
                </a:moveTo>
                <a:lnTo>
                  <a:pt x="2065102" y="0"/>
                </a:lnTo>
                <a:lnTo>
                  <a:pt x="2065102" y="2983200"/>
                </a:lnTo>
                <a:lnTo>
                  <a:pt x="0" y="2983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1EE9E5-7A55-4CF3-A8D0-91583F01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1723" y="-886210"/>
            <a:ext cx="5669995" cy="7395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802" tIns="12802" rIns="12802" bIns="12802" anchor="ctr"/>
          <a:lstStyle xmlns:a="http://schemas.openxmlformats.org/drawingml/2006/main"/>
          <a:p xmlns:a="http://schemas.openxmlformats.org/drawingml/2006/main">
            <a:pPr algn="ctr">
              <a:lnSpc>
                <a:spcPts val="1023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B0C3E81-061E-44AC-9F5F-B98F9F3A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39" y="-1314572"/>
            <a:ext cx="7348560" cy="11848269"/>
          </a:xfrm>
          <a:custGeom xmlns:a="http://schemas.openxmlformats.org/drawingml/2006/main">
            <a:rect l="l" t="t" r="r" b="b"/>
            <a:pathLst>
              <a:path w="9006543" h="11848269">
                <a:moveTo>
                  <a:pt x="0" y="0"/>
                </a:moveTo>
                <a:lnTo>
                  <a:pt x="9006543" y="0"/>
                </a:lnTo>
                <a:lnTo>
                  <a:pt x="9006543" y="11848270"/>
                </a:lnTo>
                <a:lnTo>
                  <a:pt x="0" y="11848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cb605fe4784a3f"/>
            <a:stretch>
              <a:fillRect l="-23775" t="0" r="-123516" b="-174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B60B99A-5DEA-40FA-9CAF-3AF8C71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2686354" y="6078015"/>
            <a:ext cx="5510794" cy="6550721"/>
          </a:xfrm>
          <a:custGeom xmlns:a="http://schemas.openxmlformats.org/drawingml/2006/main">
            <a:rect l="l" t="t" r="r" b="b"/>
            <a:pathLst>
              <a:path w="5510794" h="6550721">
                <a:moveTo>
                  <a:pt x="5510794" y="0"/>
                </a:moveTo>
                <a:lnTo>
                  <a:pt x="0" y="0"/>
                </a:lnTo>
                <a:lnTo>
                  <a:pt x="0" y="6550721"/>
                </a:lnTo>
                <a:lnTo>
                  <a:pt x="5510794" y="6550721"/>
                </a:lnTo>
                <a:lnTo>
                  <a:pt x="551079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5819886ab24689">
              <a:alphaModFix amt="31000"/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6593572-B81C-4965-85C5-F025106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0340" y="3362854"/>
            <a:ext cx="6426322" cy="6848489"/>
          </a:xfrm>
          <a:custGeom xmlns:a="http://schemas.openxmlformats.org/drawingml/2006/main">
            <a:rect l="l" t="t" r="r" b="b"/>
            <a:pathLst>
              <a:path w="8699500" h="9271000">
                <a:moveTo>
                  <a:pt x="8693150" y="9271000"/>
                </a:moveTo>
                <a:lnTo>
                  <a:pt x="6350" y="9271000"/>
                </a:lnTo>
                <a:lnTo>
                  <a:pt x="0" y="9271000"/>
                </a:lnTo>
                <a:lnTo>
                  <a:pt x="0" y="9264650"/>
                </a:lnTo>
                <a:lnTo>
                  <a:pt x="0" y="6350"/>
                </a:lnTo>
                <a:lnTo>
                  <a:pt x="0" y="0"/>
                </a:lnTo>
                <a:lnTo>
                  <a:pt x="6350" y="0"/>
                </a:lnTo>
                <a:lnTo>
                  <a:pt x="8693150" y="0"/>
                </a:lnTo>
                <a:lnTo>
                  <a:pt x="8699500" y="0"/>
                </a:lnTo>
                <a:lnTo>
                  <a:pt x="8699500" y="6350"/>
                </a:lnTo>
                <a:lnTo>
                  <a:pt x="8699500" y="9264650"/>
                </a:lnTo>
                <a:lnTo>
                  <a:pt x="8699500" y="9271000"/>
                </a:lnTo>
                <a:lnTo>
                  <a:pt x="8693150" y="9271000"/>
                </a:lnTo>
                <a:moveTo>
                  <a:pt x="8693150" y="9258300"/>
                </a:moveTo>
                <a:lnTo>
                  <a:pt x="8693150" y="9264650"/>
                </a:lnTo>
                <a:lnTo>
                  <a:pt x="8686800" y="9264650"/>
                </a:lnTo>
                <a:lnTo>
                  <a:pt x="8686800" y="6350"/>
                </a:lnTo>
                <a:lnTo>
                  <a:pt x="8693150" y="6350"/>
                </a:lnTo>
                <a:lnTo>
                  <a:pt x="8693150" y="12700"/>
                </a:lnTo>
                <a:lnTo>
                  <a:pt x="6350" y="1270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9264650"/>
                </a:lnTo>
                <a:lnTo>
                  <a:pt x="6350" y="9264650"/>
                </a:lnTo>
                <a:lnTo>
                  <a:pt x="6350" y="9258300"/>
                </a:lnTo>
                <a:lnTo>
                  <a:pt x="8693150" y="9258300"/>
                </a:lnTo>
                <a:close/>
              </a:path>
            </a:pathLst>
          </a:custGeom>
          <a:solidFill xmlns:a="http://schemas.openxmlformats.org/drawingml/2006/main">
            <a:srgbClr val="0038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142C54A-0B41-48EC-A773-7363F40F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050" y="1685915"/>
            <a:ext cx="466725" cy="466725"/>
          </a:xfrm>
          <a:custGeom xmlns:a="http://schemas.openxmlformats.org/drawingml/2006/main">
            <a:rect l="l" t="t" r="r" b="b"/>
            <a:pathLst>
              <a:path w="622300" h="622300">
                <a:moveTo>
                  <a:pt x="0" y="0"/>
                </a:moveTo>
                <a:lnTo>
                  <a:pt x="622300" y="0"/>
                </a:lnTo>
                <a:lnTo>
                  <a:pt x="622300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30e6a8725a434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D42AF7B-E5F4-4414-83F1-A46A0B3C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1995" y="1750574"/>
            <a:ext cx="4987008" cy="1262794"/>
          </a:xfrm>
          <a:custGeom xmlns:a="http://schemas.openxmlformats.org/drawingml/2006/main">
            <a:rect l="l" t="t" r="r" b="b"/>
            <a:pathLst>
              <a:path w="1317746" h="333675">
                <a:moveTo>
                  <a:pt x="38810" y="0"/>
                </a:moveTo>
                <a:lnTo>
                  <a:pt x="1278935" y="0"/>
                </a:lnTo>
                <a:cubicBezTo>
                  <a:pt x="1289228" y="0"/>
                  <a:pt x="1299100" y="4089"/>
                  <a:pt x="1306378" y="11367"/>
                </a:cubicBezTo>
                <a:cubicBezTo>
                  <a:pt x="1313657" y="18646"/>
                  <a:pt x="1317746" y="28517"/>
                  <a:pt x="1317746" y="38810"/>
                </a:cubicBezTo>
                <a:lnTo>
                  <a:pt x="1317746" y="294865"/>
                </a:lnTo>
                <a:cubicBezTo>
                  <a:pt x="1317746" y="305158"/>
                  <a:pt x="1313657" y="315030"/>
                  <a:pt x="1306378" y="322308"/>
                </a:cubicBezTo>
                <a:cubicBezTo>
                  <a:pt x="1299100" y="329586"/>
                  <a:pt x="1289228" y="333675"/>
                  <a:pt x="1278935" y="333675"/>
                </a:cubicBezTo>
                <a:lnTo>
                  <a:pt x="38810" y="333675"/>
                </a:lnTo>
                <a:cubicBezTo>
                  <a:pt x="28517" y="333675"/>
                  <a:pt x="18646" y="329586"/>
                  <a:pt x="11367" y="322308"/>
                </a:cubicBezTo>
                <a:cubicBezTo>
                  <a:pt x="4089" y="315030"/>
                  <a:pt x="0" y="305158"/>
                  <a:pt x="0" y="294865"/>
                </a:cubicBezTo>
                <a:lnTo>
                  <a:pt x="0" y="38810"/>
                </a:lnTo>
                <a:cubicBezTo>
                  <a:pt x="0" y="28517"/>
                  <a:pt x="4089" y="18646"/>
                  <a:pt x="11367" y="11367"/>
                </a:cubicBezTo>
                <a:cubicBezTo>
                  <a:pt x="18646" y="4089"/>
                  <a:pt x="28517" y="0"/>
                  <a:pt x="38810" y="0"/>
                </a:cubicBezTo>
                <a:close/>
              </a:path>
            </a:pathLst>
          </a:custGeom>
          <a:solidFill xmlns:a="http://schemas.openxmlformats.org/drawingml/2006/main">
            <a:srgbClr val="68CD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8F7613-7442-4F25-993C-C12A30BE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1995" y="1786621"/>
            <a:ext cx="4987008" cy="12267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139"/>
              </a:lnSpc>
              <a:buNone/>
            </a:pPr>
            <a:endParaRPr/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066E0EE-CF9B-4581-9914-B633D76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509">
            <a:off x="-1184118" y="1558771"/>
            <a:ext cx="2582507" cy="1447280"/>
          </a:xfrm>
          <a:custGeom xmlns:a="http://schemas.openxmlformats.org/drawingml/2006/main">
            <a:rect l="l" t="t" r="r" b="b"/>
            <a:pathLst>
              <a:path w="2582507" h="1447280">
                <a:moveTo>
                  <a:pt x="0" y="0"/>
                </a:moveTo>
                <a:lnTo>
                  <a:pt x="2582506" y="0"/>
                </a:lnTo>
                <a:lnTo>
                  <a:pt x="2582506" y="1447280"/>
                </a:lnTo>
                <a:lnTo>
                  <a:pt x="0" y="144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3384f8a1554af0">
              <a:alphaModFix amt="69000"/>
              <a:extLst>
                <a:ext uri="{96DAC541-7B7A-43D3-8B79-37D633B846F1}">
                  <asvg:svgBlip xmlns:asvg="http://schemas.microsoft.com/office/drawing/2016/SVG/main" r:embed="Rdaa52e5f6abd484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CAE67F0-B2B1-4471-9CE9-71DFC9AD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24" y="1477290"/>
            <a:ext cx="883976" cy="883976"/>
          </a:xfrm>
          <a:custGeom xmlns:a="http://schemas.openxmlformats.org/drawingml/2006/main">
            <a:rect l="l" t="t" r="r" b="b"/>
            <a:pathLst>
              <a:path w="883976" h="883976">
                <a:moveTo>
                  <a:pt x="0" y="0"/>
                </a:moveTo>
                <a:lnTo>
                  <a:pt x="883977" y="0"/>
                </a:lnTo>
                <a:lnTo>
                  <a:pt x="883977" y="883976"/>
                </a:lnTo>
                <a:lnTo>
                  <a:pt x="0" y="88397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60c43a089b48b5">
              <a:extLst>
                <a:ext uri="{96DAC541-7B7A-43D3-8B79-37D633B846F1}">
                  <asvg:svgBlip xmlns:asvg="http://schemas.microsoft.com/office/drawing/2016/SVG/main" r:embed="R2958e15b65e3483c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C00B5C7-7A7B-4BF5-89F9-2A56F20F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25" y="1537390"/>
            <a:ext cx="763775" cy="763775"/>
          </a:xfrm>
          <a:custGeom xmlns:a="http://schemas.openxmlformats.org/drawingml/2006/main">
            <a:rect l="l" t="t" r="r" b="b"/>
            <a:pathLst>
              <a:path w="763775" h="763775">
                <a:moveTo>
                  <a:pt x="0" y="0"/>
                </a:moveTo>
                <a:lnTo>
                  <a:pt x="763775" y="0"/>
                </a:lnTo>
                <a:lnTo>
                  <a:pt x="763775" y="763776"/>
                </a:lnTo>
                <a:lnTo>
                  <a:pt x="0" y="76377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dd8e9877c1427a">
              <a:extLst>
                <a:ext uri="{96DAC541-7B7A-43D3-8B79-37D633B846F1}">
                  <asvg:svgBlip xmlns:asvg="http://schemas.microsoft.com/office/drawing/2016/SVG/main" r:embed="R0529542431924d34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3B56ACA-63FA-4926-94B8-AB5A17A1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315" y="10673367"/>
            <a:ext cx="1697744" cy="552905"/>
          </a:xfrm>
          <a:custGeom xmlns:a="http://schemas.openxmlformats.org/drawingml/2006/main">
            <a:rect l="l" t="t" r="r" b="b"/>
            <a:pathLst>
              <a:path w="1697744" h="552905">
                <a:moveTo>
                  <a:pt x="0" y="0"/>
                </a:moveTo>
                <a:lnTo>
                  <a:pt x="1697744" y="0"/>
                </a:lnTo>
                <a:lnTo>
                  <a:pt x="1697744" y="552904"/>
                </a:lnTo>
                <a:lnTo>
                  <a:pt x="0" y="5529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211b10eb844baf"/>
            <a:stretch>
              <a:fillRect l="-30356" t="-142096" r="-24836" b="-234437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20E7170-272A-4721-A6C7-05E8CFF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4" y="1675179"/>
            <a:ext cx="503298" cy="488199"/>
          </a:xfrm>
          <a:custGeom xmlns:a="http://schemas.openxmlformats.org/drawingml/2006/main">
            <a:rect l="l" t="t" r="r" b="b"/>
            <a:pathLst>
              <a:path w="503298" h="488199">
                <a:moveTo>
                  <a:pt x="0" y="0"/>
                </a:moveTo>
                <a:lnTo>
                  <a:pt x="503297" y="0"/>
                </a:lnTo>
                <a:lnTo>
                  <a:pt x="503297" y="488198"/>
                </a:lnTo>
                <a:lnTo>
                  <a:pt x="0" y="4881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d12236ac43435c">
              <a:extLst>
                <a:ext uri="{96DAC541-7B7A-43D3-8B79-37D633B846F1}">
                  <asvg:svgBlip xmlns:asvg="http://schemas.microsoft.com/office/drawing/2016/SVG/main" r:embed="R64e3fa7b67114f1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E2E780A-B2C8-4AA3-B044-464A771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97"/>
              </a:lnSpc>
              <a:spcBef>
                <a:spcPct val="0"/>
              </a:spcBef>
              <a:buNone/>
              <a:defRPr sz="2100" b="1">
                <a:solidFill>
                  <a:srgbClr val="143D31"/>
                </a:solidFill>
                <a:latin typeface="Agency FB"/>
                <a:ea typeface="Agency FB"/>
                <a:cs typeface="Agency FB"/>
              </a:defRPr>
            </a:pPr>
            <a:r>
              <a:rPr sz="2100" b="1">
                <a:solidFill>
                  <a:srgbClr val="143D31"/>
                </a:solidFill>
                <a:latin typeface="Agency FB"/>
                <a:ea typeface="Agency FB"/>
                <a:cs typeface="Agency FB"/>
              </a:rPr>
              <a:t>TEAM NAME: TO CONFIRM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0157DAE-DA32-468E-9B04-AFABF43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95525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33"/>
              </a:lnSpc>
              <a:buNone/>
              <a:defRPr sz="1350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Team members: to confirm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C89F338-CEF0-463C-8870-6365B34D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33"/>
              </a:lnSpc>
              <a:buNone/>
              <a:defRPr sz="1350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Singapore Polytechnic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4D5C9AD-88CA-44E9-83AA-E131790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474" y="3538402"/>
            <a:ext cx="5944469" cy="254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33"/>
              </a:lnSpc>
              <a:buNone/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6" name="TextBox 34">
            <a:extLst xmlns:a="http://schemas.openxmlformats.org/drawingml/2006/main">
              <a:ext uri="{FF2B5EF4-FFF2-40B4-BE49-F238E27FC236}">
                <a16:creationId xmlns:a16="http://schemas.microsoft.com/office/drawing/2014/main" id="{5DDAE30E-5B55-AB1F-B260-F2E529A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21" y="756753"/>
            <a:ext cx="5944469" cy="254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33"/>
              </a:lnSpc>
              <a:buNone/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a2ab4948c4d34"/>
          <a:stretch xmlns:a="http://schemas.openxmlformats.org/drawingml/2006/main"/>
        </p:blipFill>
        <p:spPr>
          <a:xfrm xmlns:a="http://schemas.openxmlformats.org/drawingml/2006/main">
            <a:off x="2584211" y="257175"/>
            <a:ext cx="3470753" cy="1266825"/>
          </a:xfrm>
          <a:prstGeom xmlns:a="http://schemas.openxmlformats.org/drawingml/2006/main" prst="rect">
            <a:avLst/>
          </a:prstGeom>
        </p:spPr>
      </p:pic>
      <p:sp>
        <p:nvSpPr>
          <p:cNvPr id="38" name="Project title">
            <a:extLst xmlns:a="http://schemas.openxmlformats.org/drawingml/2006/main">
              <a:ext uri="{FF2B5EF4-FFF2-40B4-BE49-F238E27FC236}">
                <a16:creationId xmlns:a16="http://schemas.microsoft.com/office/drawing/2014/main" id="{4F5FD656-11D0-4232-8069-0636559C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66900"/>
            <a:ext cx="2800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BUSGUARD</a:t>
            </a:r>
          </a:p>
        </p:txBody>
      </p:sp>
      <p:sp>
        <p:nvSpPr>
          <p:cNvPr id="39" name="Project descriptor">
            <a:extLst xmlns:a="http://schemas.openxmlformats.org/drawingml/2006/main">
              <a:ext uri="{FF2B5EF4-FFF2-40B4-BE49-F238E27FC236}">
                <a16:creationId xmlns:a16="http://schemas.microsoft.com/office/drawing/2014/main" id="{6734A276-941B-48B3-83AF-B3BC28E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Connected passenger</a:t>
            </a:r>
          </a:p>
          <a:p xmlns:a="http://schemas.openxmlformats.org/drawingml/2006/main">
            <a:pPr algn="l">
              <a:defRPr sz="1650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assistance</a:t>
            </a:r>
          </a:p>
        </p:txBody>
      </p:sp>
      <p:sp>
        <p:nvSpPr>
          <p:cNvPr id="40" name="Draft status">
            <a:extLst xmlns:a="http://schemas.openxmlformats.org/drawingml/2006/main">
              <a:ext uri="{FF2B5EF4-FFF2-40B4-BE49-F238E27FC236}">
                <a16:creationId xmlns:a16="http://schemas.microsoft.com/office/drawing/2014/main" id="{C0622289-26CC-458B-A80F-0210A10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289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D4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46D46"/>
                </a:solidFill>
                <a:latin typeface="Calibri"/>
                <a:ea typeface="Calibri"/>
                <a:cs typeface="Calibri"/>
              </a:rPr>
              <a:t>DRAFT · team details pending</a:t>
            </a:r>
          </a:p>
        </p:txBody>
      </p:sp>
      <p:sp>
        <p:nvSpPr>
          <p:cNvPr id="41" name="Content title">
            <a:extLst xmlns:a="http://schemas.openxmlformats.org/drawingml/2006/main">
              <a:ext uri="{FF2B5EF4-FFF2-40B4-BE49-F238E27FC236}">
                <a16:creationId xmlns:a16="http://schemas.microsoft.com/office/drawing/2014/main" id="{C7018726-D53B-4F13-879C-56992C3D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598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Inclusive boarding, coordinated assistance</a:t>
            </a:r>
          </a:p>
        </p:txBody>
      </p:sp>
      <p:sp>
        <p:nvSpPr>
          <p:cNvPr id="42" name="Problem and response">
            <a:extLst xmlns:a="http://schemas.openxmlformats.org/drawingml/2006/main">
              <a:ext uri="{FF2B5EF4-FFF2-40B4-BE49-F238E27FC236}">
                <a16:creationId xmlns:a16="http://schemas.microsoft.com/office/drawing/2014/main" id="{619FE11C-39AA-4B7E-9BED-1D7DC0DC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2002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38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Passengers need a clear way to ask for help and enough time to 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38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BusGuard connects two CCTV views, RFID profiles and passenger requests through one local controller.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f8f64b73a406b"/>
          <a:stretch xmlns:a="http://schemas.openxmlformats.org/drawingml/2006/main"/>
        </p:blipFill>
        <p:spPr>
          <a:xfrm xmlns:a="http://schemas.openxmlformats.org/drawingml/2006/main">
            <a:off x="3819525" y="4048125"/>
            <a:ext cx="3552825" cy="1998464"/>
          </a:xfrm>
          <a:prstGeom xmlns:a="http://schemas.openxmlformats.org/drawingml/2006/main" prst="rect">
            <a:avLst/>
          </a:prstGeom>
        </p:spPr>
      </p:pic>
      <p:sp>
        <p:nvSpPr>
          <p:cNvPr id="44" name="Figure caption">
            <a:extLst xmlns:a="http://schemas.openxmlformats.org/drawingml/2006/main">
              <a:ext uri="{FF2B5EF4-FFF2-40B4-BE49-F238E27FC236}">
                <a16:creationId xmlns:a16="http://schemas.microsoft.com/office/drawing/2014/main" id="{6C9A012F-1A00-440F-8D36-C18F732E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105525"/>
            <a:ext cx="3552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3D bus visualization • vehicle outputs are simulated</a:t>
            </a:r>
          </a:p>
        </p:txBody>
      </p:sp>
      <p:sp>
        <p:nvSpPr>
          <p:cNvPr id="45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8FDC77AF-2D48-4782-ADE4-57E2DD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57950"/>
            <a:ext cx="598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One controller keeps every interface in step</a:t>
            </a:r>
          </a:p>
        </p:txBody>
      </p:sp>
      <p:sp>
        <p:nvSpPr>
          <p:cNvPr id="46" name="CCTV input">
            <a:extLst xmlns:a="http://schemas.openxmlformats.org/drawingml/2006/main">
              <a:ext uri="{FF2B5EF4-FFF2-40B4-BE49-F238E27FC236}">
                <a16:creationId xmlns:a16="http://schemas.microsoft.com/office/drawing/2014/main" id="{BA5E20C1-B46B-4709-8832-E800CE2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58000"/>
            <a:ext cx="18954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6"/>
          </a:solidFill>
          <a:ln xmlns:a="http://schemas.openxmlformats.org/drawingml/2006/main" w="9525">
            <a:solidFill>
              <a:srgbClr val="68A784"/>
            </a:solidFill>
          </a:ln>
        </p:spPr>
      </p:sp>
      <p:sp>
        <p:nvSpPr>
          <p:cNvPr id="47" name="CCTV input heading">
            <a:extLst xmlns:a="http://schemas.openxmlformats.org/drawingml/2006/main">
              <a:ext uri="{FF2B5EF4-FFF2-40B4-BE49-F238E27FC236}">
                <a16:creationId xmlns:a16="http://schemas.microsoft.com/office/drawing/2014/main" id="{632EC3C6-464A-40B0-A689-9BFD908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24675"/>
            <a:ext cx="1704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Two CCTV views</a:t>
            </a:r>
          </a:p>
        </p:txBody>
      </p:sp>
      <p:sp>
        <p:nvSpPr>
          <p:cNvPr id="48" name="CCTV input detail">
            <a:extLst xmlns:a="http://schemas.openxmlformats.org/drawingml/2006/main">
              <a:ext uri="{FF2B5EF4-FFF2-40B4-BE49-F238E27FC236}">
                <a16:creationId xmlns:a16="http://schemas.microsoft.com/office/drawing/2014/main" id="{33B999CF-C87B-4C83-95F8-430DD67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153275"/>
            <a:ext cx="1743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Outside activity · inside count</a:t>
            </a:r>
          </a:p>
        </p:txBody>
      </p:sp>
      <p:sp>
        <p:nvSpPr>
          <p:cNvPr id="49" name="RFID input">
            <a:extLst xmlns:a="http://schemas.openxmlformats.org/drawingml/2006/main">
              <a:ext uri="{FF2B5EF4-FFF2-40B4-BE49-F238E27FC236}">
                <a16:creationId xmlns:a16="http://schemas.microsoft.com/office/drawing/2014/main" id="{EFE5F935-37C0-4707-AD9A-8FDACA7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8580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6"/>
          </a:solidFill>
          <a:ln xmlns:a="http://schemas.openxmlformats.org/drawingml/2006/main" w="9525">
            <a:solidFill>
              <a:srgbClr val="68A784"/>
            </a:solidFill>
          </a:ln>
        </p:spPr>
      </p:sp>
      <p:sp>
        <p:nvSpPr>
          <p:cNvPr id="50" name="RFID input heading">
            <a:extLst xmlns:a="http://schemas.openxmlformats.org/drawingml/2006/main">
              <a:ext uri="{FF2B5EF4-FFF2-40B4-BE49-F238E27FC236}">
                <a16:creationId xmlns:a16="http://schemas.microsoft.com/office/drawing/2014/main" id="{803DC37E-152A-4181-924A-B011CC6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9246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RFID profiles</a:t>
            </a:r>
          </a:p>
        </p:txBody>
      </p:sp>
      <p:sp>
        <p:nvSpPr>
          <p:cNvPr id="51" name="RFID input detail">
            <a:extLst xmlns:a="http://schemas.openxmlformats.org/drawingml/2006/main">
              <a:ext uri="{FF2B5EF4-FFF2-40B4-BE49-F238E27FC236}">
                <a16:creationId xmlns:a16="http://schemas.microsoft.com/office/drawing/2014/main" id="{D94CA62B-2D2A-4E60-A2C1-3CEF6C57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153275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Known card · board / alight</a:t>
            </a:r>
          </a:p>
        </p:txBody>
      </p:sp>
      <p:sp>
        <p:nvSpPr>
          <p:cNvPr id="52" name="Passenger input">
            <a:extLst xmlns:a="http://schemas.openxmlformats.org/drawingml/2006/main">
              <a:ext uri="{FF2B5EF4-FFF2-40B4-BE49-F238E27FC236}">
                <a16:creationId xmlns:a16="http://schemas.microsoft.com/office/drawing/2014/main" id="{A8736E72-885A-409A-9C2B-7FA34F3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858000"/>
            <a:ext cx="1876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6"/>
          </a:solidFill>
          <a:ln xmlns:a="http://schemas.openxmlformats.org/drawingml/2006/main" w="9525">
            <a:solidFill>
              <a:srgbClr val="68A784"/>
            </a:solidFill>
          </a:ln>
        </p:spPr>
      </p:sp>
      <p:sp>
        <p:nvSpPr>
          <p:cNvPr id="53" name="Passenger input heading">
            <a:extLst xmlns:a="http://schemas.openxmlformats.org/drawingml/2006/main">
              <a:ext uri="{FF2B5EF4-FFF2-40B4-BE49-F238E27FC236}">
                <a16:creationId xmlns:a16="http://schemas.microsoft.com/office/drawing/2014/main" id="{8D06D5F4-BDF5-4B83-A035-8D6E8634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692467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Passenger app</a:t>
            </a:r>
          </a:p>
        </p:txBody>
      </p:sp>
      <p:sp>
        <p:nvSpPr>
          <p:cNvPr id="54" name="Passenger input detail">
            <a:extLst xmlns:a="http://schemas.openxmlformats.org/drawingml/2006/main">
              <a:ext uri="{FF2B5EF4-FFF2-40B4-BE49-F238E27FC236}">
                <a16:creationId xmlns:a16="http://schemas.microsoft.com/office/drawing/2014/main" id="{A1562B38-274E-4D5B-90C2-9A7656F4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153275"/>
            <a:ext cx="1724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Ramp · time · seat · guidance</a:t>
            </a:r>
          </a:p>
        </p:txBody>
      </p:sp>
      <p:sp>
        <p:nvSpPr>
          <p:cNvPr id="55" name="Shared controller">
            <a:extLst xmlns:a="http://schemas.openxmlformats.org/drawingml/2006/main">
              <a:ext uri="{FF2B5EF4-FFF2-40B4-BE49-F238E27FC236}">
                <a16:creationId xmlns:a16="http://schemas.microsoft.com/office/drawing/2014/main" id="{4ABBFDDA-9021-4FBA-8CB8-C041E35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724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46"/>
          </a:solidFill>
          <a:ln xmlns:a="http://schemas.openxmlformats.org/drawingml/2006/main" w="9525">
            <a:solidFill>
              <a:srgbClr val="246D46"/>
            </a:solidFill>
          </a:ln>
        </p:spPr>
        <p:txBody>
          <a:bodyPr xmlns:a="http://schemas.openxmlformats.org/drawingml/2006/main" wrap="non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assistance controller</a:t>
            </a:r>
          </a:p>
        </p:txBody>
      </p:sp>
      <p:cxnSp>
        <p:nvCxnSpPr>
          <p:cNvPr id="110" name=""/>
          <p:cNvCxnSpPr>
            <a:stCxn xmlns:a="http://schemas.openxmlformats.org/drawingml/2006/main" id="46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328863" y="7391400"/>
            <a:ext cx="2052638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6D46"/>
            </a:solidFill>
            <a:tailEnd type="arrow" w="med" len="med"/>
          </a:ln>
        </p:spPr>
      </p:cxnSp>
      <p:cxnSp>
        <p:nvCxnSpPr>
          <p:cNvPr id="111" name=""/>
          <p:cNvCxnSpPr>
            <a:stCxn xmlns:a="http://schemas.openxmlformats.org/drawingml/2006/main" id="49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381500" y="73914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6D46"/>
            </a:solidFill>
            <a:tailEnd type="arrow" w="med" len="med"/>
          </a:ln>
        </p:spPr>
      </p:cxnSp>
      <p:cxnSp>
        <p:nvCxnSpPr>
          <p:cNvPr id="112" name="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4381500" y="7391400"/>
            <a:ext cx="2052638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6D46"/>
            </a:solidFill>
            <a:tailEnd type="arrow" w="med" len="med"/>
          </a:ln>
        </p:spPr>
      </p:cxnSp>
      <p:sp>
        <p:nvSpPr>
          <p:cNvPr id="59" name="Shared outputs">
            <a:extLst xmlns:a="http://schemas.openxmlformats.org/drawingml/2006/main">
              <a:ext uri="{FF2B5EF4-FFF2-40B4-BE49-F238E27FC236}">
                <a16:creationId xmlns:a16="http://schemas.microsoft.com/office/drawing/2014/main" id="{BCE9D8A9-A39D-4613-B5D4-76B9167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334375"/>
            <a:ext cx="599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Detection console · 3D bus · passenger updates · clear announcements</a:t>
            </a:r>
          </a:p>
        </p:txBody>
      </p:sp>
      <p:sp>
        <p:nvSpPr>
          <p:cNvPr id="60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5F84CCBF-88C8-45D4-86F9-6F09BD6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705850"/>
            <a:ext cx="5991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A784"/>
            </a:solidFill>
          </a:ln>
        </p:spPr>
      </p:sp>
      <p:sp>
        <p:nvSpPr>
          <p:cNvPr id="61" name="Timing heading">
            <a:extLst xmlns:a="http://schemas.openxmlformats.org/drawingml/2006/main">
              <a:ext uri="{FF2B5EF4-FFF2-40B4-BE49-F238E27FC236}">
                <a16:creationId xmlns:a16="http://schemas.microsoft.com/office/drawing/2014/main" id="{D375A087-92DA-4C57-8409-1AFCEBA0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829675"/>
            <a:ext cx="2809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Time for the passenger</a:t>
            </a:r>
          </a:p>
        </p:txBody>
      </p:sp>
      <p:sp>
        <p:nvSpPr>
          <p:cNvPr id="62" name="Timing rules">
            <a:extLst xmlns:a="http://schemas.openxmlformats.org/drawingml/2006/main">
              <a:ext uri="{FF2B5EF4-FFF2-40B4-BE49-F238E27FC236}">
                <a16:creationId xmlns:a16="http://schemas.microsoft.com/office/drawing/2014/main" id="{2E74F618-A194-42DA-B271-6CD5249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1440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15 s quiet window. RFID: 10 s from a tap.</a:t>
            </a:r>
          </a:p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Ramp request: 20 s. Admission closes at</a:t>
            </a:r>
          </a:p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50 s; accepted time finishes in full.</a:t>
            </a:r>
          </a:p>
        </p:txBody>
      </p:sp>
      <p:sp>
        <p:nvSpPr>
          <p:cNvPr id="63" name="Departure heading">
            <a:extLst xmlns:a="http://schemas.openxmlformats.org/drawingml/2006/main">
              <a:ext uri="{FF2B5EF4-FFF2-40B4-BE49-F238E27FC236}">
                <a16:creationId xmlns:a16="http://schemas.microsoft.com/office/drawing/2014/main" id="{C9571F71-CAAA-4473-8405-B90F4D4C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829675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Fresh evidence before departure</a:t>
            </a:r>
          </a:p>
        </p:txBody>
      </p:sp>
      <p:sp>
        <p:nvSpPr>
          <p:cNvPr id="64" name="Departure rules">
            <a:extLst xmlns:a="http://schemas.openxmlformats.org/drawingml/2006/main">
              <a:ext uri="{FF2B5EF4-FFF2-40B4-BE49-F238E27FC236}">
                <a16:creationId xmlns:a16="http://schemas.microsoft.com/office/drawing/2014/main" id="{C289D6B9-2088-4E07-8028-D0B7C6E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9144000"/>
            <a:ext cx="2876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After doors close: 5 s of fresh results</a:t>
            </a:r>
          </a:p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with no standing detected. Stale feeds</a:t>
            </a:r>
          </a:p>
          <a:p xmlns:a="http://schemas.openxmlformats.org/drawingml/2006/main">
            <a:pPr algn="l">
              <a:defRPr sz="1238" b="0">
                <a:solidFill>
                  <a:srgbClr val="234B40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34B40"/>
                </a:solidFill>
                <a:latin typeface="Calibri"/>
                <a:ea typeface="Calibri"/>
                <a:cs typeface="Calibri"/>
              </a:rPr>
              <a:t>and active holds keep departure held.</a:t>
            </a:r>
          </a:p>
        </p:txBody>
      </p:sp>
      <p:sp>
        <p:nvSpPr>
          <p:cNvPr id="65" name="Prototype boundary">
            <a:extLst xmlns:a="http://schemas.openxmlformats.org/drawingml/2006/main">
              <a:ext uri="{FF2B5EF4-FFF2-40B4-BE49-F238E27FC236}">
                <a16:creationId xmlns:a16="http://schemas.microsoft.com/office/drawing/2014/main" id="{1C51A7E8-83AB-428F-8E25-C71FD5BF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877425"/>
            <a:ext cx="5991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3D3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43D31"/>
                </a:solidFill>
                <a:latin typeface="Calibri"/>
                <a:ea typeface="Calibri"/>
                <a:cs typeface="Calibri"/>
              </a:rPr>
              <a:t>Physical inputs: CCTV + ESP32 RFID. Simulated outputs: ramp, doors and bus motion.</a:t>
            </a:r>
          </a:p>
        </p:txBody>
      </p:sp>
    </p:spTree>
    <p:extLst>
      <p:ext uri="{BB962C8B-B14F-4D97-AF65-F5344CB8AC3E}">
        <p14:creationId xmlns:p14="http://schemas.microsoft.com/office/powerpoint/2010/main" val="10474865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2026-09-29T03:17:24.7410000Z</dcterms:created>
  <dcterms:modified xsi:type="dcterms:W3CDTF">2026-09-29T03:17:24.7410000Z</dcterms:modified>
</coreProperties>
</file>