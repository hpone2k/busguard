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4c2a823d7a4751" /><Relationship Type="http://schemas.openxmlformats.org/officeDocument/2006/relationships/extended-properties" Target="/docProps/app.xml" Id="Ra25d25c345224fea" /><Relationship Type="http://schemas.openxmlformats.org/officeDocument/2006/relationships/officeDocument" Target="/ppt/presentation.xml" Id="R34721e0f792a4fb2" /></Relationships>
</file>

<file path=ppt/presentation.xml><?xml version="1.0" encoding="utf-8"?>
<p:presentation xmlns:p="http://schemas.openxmlformats.org/presentationml/2006/main">
  <p:sldMasterIdLst>
    <p:sldMasterId xmlns:r="http://schemas.openxmlformats.org/officeDocument/2006/relationships" id="2147483648" r:id="R9161d78b1e124189"/>
  </p:sldMasterIdLst>
  <p:notesMasterIdLst>
    <p:notesMasterId xmlns:r="http://schemas.openxmlformats.org/officeDocument/2006/relationships" r:id="R3ba369c1fbe749f5"/>
  </p:notesMasterIdLst>
  <p:sldIdLst>
    <p:sldId xmlns:r="http://schemas.openxmlformats.org/officeDocument/2006/relationships" id="256" r:id="Rf435419901bb4db1"/>
    <p:sldId xmlns:r="http://schemas.openxmlformats.org/officeDocument/2006/relationships" id="257" r:id="R38271dcc92994e57"/>
    <p:sldId xmlns:r="http://schemas.openxmlformats.org/officeDocument/2006/relationships" id="258" r:id="R9ef4e9f1cfc44825"/>
    <p:sldId xmlns:r="http://schemas.openxmlformats.org/officeDocument/2006/relationships" id="259" r:id="Rca0ebf48c3014dab"/>
    <p:sldId xmlns:r="http://schemas.openxmlformats.org/officeDocument/2006/relationships" id="260" r:id="R6b7421572cec4e3a"/>
    <p:sldId xmlns:r="http://schemas.openxmlformats.org/officeDocument/2006/relationships" id="261" r:id="Rebeb344e8e4e4cb2"/>
    <p:sldId xmlns:r="http://schemas.openxmlformats.org/officeDocument/2006/relationships" id="262" r:id="R8e537dad726d4560"/>
    <p:sldId xmlns:r="http://schemas.openxmlformats.org/officeDocument/2006/relationships" id="263" r:id="Rd6652ddaf9714f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2c3ef8a14d458a" /><Relationship Type="http://schemas.openxmlformats.org/officeDocument/2006/relationships/slideMaster" Target="/ppt/slideMasters/slideMaster1.xml" Id="R9161d78b1e124189" /><Relationship Type="http://schemas.openxmlformats.org/officeDocument/2006/relationships/notesMaster" Target="/ppt/notesMasters/notesMaster1.xml" Id="R3ba369c1fbe749f5" /><Relationship Type="http://schemas.openxmlformats.org/officeDocument/2006/relationships/presProps" Target="/ppt/presProps.xml" Id="R9a1934f56215457a" /><Relationship Type="http://schemas.openxmlformats.org/officeDocument/2006/relationships/tableStyles" Target="/ppt/tableStyles.xml" Id="R1b5d232d4f0d457a" /><Relationship Type="http://schemas.openxmlformats.org/officeDocument/2006/relationships/slide" Target="/ppt/slides/slide1.xml" Id="Rf435419901bb4db1" /><Relationship Type="http://schemas.openxmlformats.org/officeDocument/2006/relationships/slide" Target="/ppt/slides/slide2.xml" Id="R38271dcc92994e57" /><Relationship Type="http://schemas.openxmlformats.org/officeDocument/2006/relationships/slide" Target="/ppt/slides/slide3.xml" Id="R9ef4e9f1cfc44825" /><Relationship Type="http://schemas.openxmlformats.org/officeDocument/2006/relationships/slide" Target="/ppt/slides/slide4.xml" Id="Rca0ebf48c3014dab" /><Relationship Type="http://schemas.openxmlformats.org/officeDocument/2006/relationships/slide" Target="/ppt/slides/slide5.xml" Id="R6b7421572cec4e3a" /><Relationship Type="http://schemas.openxmlformats.org/officeDocument/2006/relationships/slide" Target="/ppt/slides/slide6.xml" Id="Rebeb344e8e4e4cb2" /><Relationship Type="http://schemas.openxmlformats.org/officeDocument/2006/relationships/slide" Target="/ppt/slides/slide7.xml" Id="R8e537dad726d4560" /><Relationship Type="http://schemas.openxmlformats.org/officeDocument/2006/relationships/slide" Target="/ppt/slides/slide8.xml" Id="Rd6652ddaf971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f5e7803b3f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05dfd631194419" /><Relationship Type="http://schemas.openxmlformats.org/officeDocument/2006/relationships/notesMaster" Target="/ppt/notesMasters/notesMaster1.xml" Id="R28911252be604d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338f70cacd4151" /><Relationship Type="http://schemas.openxmlformats.org/officeDocument/2006/relationships/notesMaster" Target="/ppt/notesMasters/notesMaster1.xml" Id="Rf9f65ab022af48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b3a232a5fe4ea0" /><Relationship Type="http://schemas.openxmlformats.org/officeDocument/2006/relationships/notesMaster" Target="/ppt/notesMasters/notesMaster1.xml" Id="Rf37a92ab907946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908f22e63c4f30" /><Relationship Type="http://schemas.openxmlformats.org/officeDocument/2006/relationships/notesMaster" Target="/ppt/notesMasters/notesMaster1.xml" Id="R1f367a57f31245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8f5cccdc054fc6" /><Relationship Type="http://schemas.openxmlformats.org/officeDocument/2006/relationships/notesMaster" Target="/ppt/notesMasters/notesMaster1.xml" Id="R1a28ed86619547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7111fb7e9c4559" /><Relationship Type="http://schemas.openxmlformats.org/officeDocument/2006/relationships/notesMaster" Target="/ppt/notesMasters/notesMaster1.xml" Id="R647f4b5de9ad49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f71b117970433a" /><Relationship Type="http://schemas.openxmlformats.org/officeDocument/2006/relationships/notesMaster" Target="/ppt/notesMasters/notesMaster1.xml" Id="R9902d2f21f4943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0272a0b4104c32" /><Relationship Type="http://schemas.openxmlformats.org/officeDocument/2006/relationships/notesMaster" Target="/ppt/notesMasters/notesMaster1.xml" Id="Ra3f1489627e54b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BusGuard, an autonomous passenger assistance prototype for the Singapore BusTech Grand Challenge. It connects camera observations, RFID taps and a passenger website to one local controller. We will show physical camera and card-reader inputs alongside a software simulation of the bus, doors and ramp. Our focus is how these parts respond together when a passenger needs help.</a:t>
            </a:r>
          </a:p>
          <a:p xmlns:a="http://schemas.openxmlformats.org/drawingml/2006/main">
            <a:r>
              <a:t/>
            </a:r>
          </a:p>
          <a:p xmlns:a="http://schemas.openxmlformats.org/drawingml/2006/main">
            <a:r>
              <a:t>Sources: SGBTGC 2026 - IHL Updates 18 Aug 2026.pdf, pages 7–13 and 16. Project: vision4479/docs/SYSTEM_WORKFLOW.md and ARCHITECTURE.md. Team and institution require confirmation before submission.</a:t>
            </a:r>
          </a:p>
          <a:p xmlns:a="http://schemas.openxmlformats.org/drawingml/2006/main">
            <a:r>
              <a:t/>
            </a:r>
          </a:p>
          <a:p xmlns:a="http://schemas.openxmlformats.org/drawingml/2006/main">
            <a:r>
              <a:t>Visual source: tmp/submission/assets/bus-view.png. Screenshot of the current project in an isolated fresh local demonstration environment. No CCTV or private passenger data. Software preview only, not measured sensor or physical-hardware trial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passenger may need extra boarding time, step-free access, or information in a form they can use. In an autonomous bus, that need still requires a clear response. Our design gives passengers an explicit way to ask and see what happens next. We use camera observations for visible objects and standing checks. We use a request or configured card profile for needs such as priority seating. We do not guess pregnancy or age from appearance. The aim is a more understandable assistance process, whose benefit still needs evaluation with users.</a:t>
            </a:r>
          </a:p>
          <a:p xmlns:a="http://schemas.openxmlformats.org/drawingml/2006/main">
            <a:r>
              <a:t/>
            </a:r>
          </a:p>
          <a:p xmlns:a="http://schemas.openxmlformats.org/drawingml/2006/main">
            <a:r>
              <a:t>Sources: official challenge update, pages 8–13. Project: SYSTEM_WORKFLOW.md, passenger request API and RFID profiles. No user satisfaction measurement or demographic inference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outside camera observes boarding activity while the doors are open. The inside camera continues counting throughout the journey and checks standing after door closure. The ESP32 sends RFID card events over the local network. Passengers can also send a request from their phone. One server combines these inputs and owns the timing and assistance state. The detection console, passenger app and 3D bus all show that same state. The viewer can run on another device, so it does not need to share the detection computer's graphics workload. The vehicle outputs here are simulated.</a:t>
            </a:r>
          </a:p>
          <a:p xmlns:a="http://schemas.openxmlformats.org/drawingml/2006/main">
            <a:r>
              <a:t/>
            </a:r>
          </a:p>
          <a:p xmlns:a="http://schemas.openxmlformats.org/drawingml/2006/main">
            <a:r>
              <a:t>Sources: ARCHITECTURE.md, SYSTEM_WORKFLOW.md, vision/api.py, vision/viewer.py, vision/passenger_site.py and firmware/BusGuardRFID/README.md. This native diagram describes current software connections, not a deployed vehicle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operator's Stop button brings the simulated bus to the next station. Once the doors are fully open, a quiet stop has a fifteen-second window. Fresh outside activity can keep it open. An accepted RFID tap protects ten seconds from the tap, and a ramp request protects twenty seconds from acceptance. At fifty seconds, the controller closes new admissions. However, it honours an allowance accepted before that cutoff. A tap at forty-nine seconds can therefore finish at fifty-nine. These are deadlines from accepted events, not ten seconds stacked onto every retry. The system gives a departure warning and then closes access when the conditions allow.</a:t>
            </a:r>
          </a:p>
          <a:p xmlns:a="http://schemas.openxmlformats.org/drawingml/2006/main">
            <a:r>
              <a:t/>
            </a:r>
          </a:p>
          <a:p xmlns:a="http://schemas.openxmlformats.org/drawingml/2006/main">
            <a:r>
              <a:t>Sources: SYSTEM_WORKFLOW.md and vision/scenario.py. Initial window 15 s; RFID 10 s; ramp request 20 s; new-admission cutoff 50 s. The 10-second departure notice and safety conditions can delay actual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Standing confirmation and occupancy correction serve different purposes. After the doors close, the standing gate requires five continuous seconds of fresh successful checks with no standing person detected. A standing result or missing evidence resets that confirmation. Other holds still apply. During travel, standing produces a reminder rather than an abrupt stop. Occupancy changes immediately when an accepted card tap boards or alights someone. The inside camera then cross-checks that baseline using the rounded mean of thirty one-second samples. The camera does not add a second count on top of RFID. Neither zero standing detections nor a stable mean proves perfect perception.</a:t>
            </a:r>
          </a:p>
          <a:p xmlns:a="http://schemas.openxmlformats.org/drawingml/2006/main">
            <a:r>
              <a:t/>
            </a:r>
          </a:p>
          <a:p xmlns:a="http://schemas.openxmlformats.org/drawingml/2006/main">
            <a:r>
              <a:t>Sources: SYSTEM_WORKFLOW.md, STANDING_DEPARTURE.md, vision/departure.py and vision/cabin_count.py. A standing-only negative inference is not proof every passenger is seated. Full-cabin coverage and complete fresh samples are required for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passenger app puts assistance commands first. A passenger chooses one option and receives a shared status and countdown. New assistance requests require an eligible stop and location in the demonstration. Voice offers another route to those same controls: Hey BusGuard activates it, and the assistant checks current state before answering. Replies are brief and finish before listening resumes. Arrival alerts can show a message, speak it, and vibrate when the device supports that feature. We retain text controls because internet access, microphone permissions and browser support can differ between passengers' devices.</a:t>
            </a:r>
          </a:p>
          <a:p xmlns:a="http://schemas.openxmlformats.org/drawingml/2006/main">
            <a:r>
              <a:t/>
            </a:r>
          </a:p>
          <a:p xmlns:a="http://schemas.openxmlformats.org/drawingml/2006/main">
            <a:r>
              <a:t>Sources: SYSTEM_WORKFLOW.md, VOICE_SETUP.md, static/passenger and vision/voice.py. Voice uses OpenAI and trusted HTTPS on phones. Vibration and foreground/background delivery are browser-dependent.</a:t>
            </a:r>
          </a:p>
          <a:p xmlns:a="http://schemas.openxmlformats.org/drawingml/2006/main">
            <a:r>
              <a:t/>
            </a:r>
          </a:p>
          <a:p xmlns:a="http://schemas.openxmlformats.org/drawingml/2006/main">
            <a:r>
              <a:t>Visual source: tmp/submission/assets/passenger-commands.png. Screenshot of the current project in an isolated fresh local demonstration environment. No CCTV or private passenger data. Software preview only, not measured sensor or physical-hardware trial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contribution is the connected workflow around the models. One state keeps the three websites consistent. Event handling separates fresh evidence from old frames and repeat card deliveries. The controller keeps accepted allowances and admission cutoffs explicit. It also displays why departure is held, so a missing camera is not confused with a standing passenger. YOLOE provides detection and OpenAI provides optional voice capabilities. We credit those components and identify our work as the integration, controller logic and passenger experience, rather than claiming a new foundation model.</a:t>
            </a:r>
          </a:p>
          <a:p xmlns:a="http://schemas.openxmlformats.org/drawingml/2006/main">
            <a:r>
              <a:t/>
            </a:r>
          </a:p>
          <a:p xmlns:a="http://schemas.openxmlformats.org/drawingml/2006/main">
            <a:r>
              <a:t>Sources: ARCHITECTURE.md, SYSTEM_WORKFLOW.md, THIRD_PARTY_NOTICES.md and current source. Official judging originality criterion: update PDF page 16. No claim that third-party models are original team inventions.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software provides a connected controller and repeatable cases for timing, ownership, retries and recovery. The next evidence we need is a labelled cabin evaluation of standing errors, a physical reader and Wi-Fi recovery trial, and usability testing with people who use these accessibility features. We have not established real-bus accuracy or measured passenger satisfaction. Doors, ramp and motion remain simulated. The video and demonstration will show the current prototype, including a hold and recovery case, so you can judge both the intended response and the limits of the evidence. Thank you.</a:t>
            </a:r>
          </a:p>
          <a:p xmlns:a="http://schemas.openxmlformats.org/drawingml/2006/main">
            <a:r>
              <a:t/>
            </a:r>
          </a:p>
          <a:p xmlns:a="http://schemas.openxmlformats.org/drawingml/2006/main">
            <a:r>
              <a:t>Sources: DEMONSTRATION_GUIDE.md and SYSTEM_WORKFLOW.md. Official success criteria require reliable recognition, appropriate responses and measurable accessibility/passenger satisfaction improvement (update PDF pages 8 and 13). These improvements remain evaluation targets, not completed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c844f7be544b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041f09d5324db5" /><Relationship Type="http://schemas.openxmlformats.org/officeDocument/2006/relationships/slideLayout" Target="/ppt/slideLayouts/slideLayout1.xml" Id="R0e1014118ac646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1014118ac646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c40c843e0c41f8" /><Relationship Type="http://schemas.openxmlformats.org/officeDocument/2006/relationships/image" Target="/ppt/media/image.jpeg" Id="Rd1748f319cc84a2d" /><Relationship Type="http://schemas.openxmlformats.org/officeDocument/2006/relationships/notesSlide" Target="/ppt/notesSlides/notesSlide1.xml" Id="R50288f9ec34841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5d01e37b02417e" /><Relationship Type="http://schemas.openxmlformats.org/officeDocument/2006/relationships/notesSlide" Target="/ppt/notesSlides/notesSlide2.xml" Id="R6676693efc8f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49425bfd6742a1" /><Relationship Type="http://schemas.openxmlformats.org/officeDocument/2006/relationships/notesSlide" Target="/ppt/notesSlides/notesSlide3.xml" Id="R62bed0b0c25e4f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365925746840da" /><Relationship Type="http://schemas.openxmlformats.org/officeDocument/2006/relationships/notesSlide" Target="/ppt/notesSlides/notesSlide4.xml" Id="R639a9a97bd5b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8622a328944f47" /><Relationship Type="http://schemas.openxmlformats.org/officeDocument/2006/relationships/notesSlide" Target="/ppt/notesSlides/notesSlide5.xml" Id="R88fa31b0ec3f4f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e133887701406d" /><Relationship Type="http://schemas.openxmlformats.org/officeDocument/2006/relationships/image" Target="/ppt/media/image2.jpeg" Id="R7056366abb724911" /><Relationship Type="http://schemas.openxmlformats.org/officeDocument/2006/relationships/notesSlide" Target="/ppt/notesSlides/notesSlide6.xml" Id="Re39e280cee9c43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23db0c6d8146d1" /><Relationship Type="http://schemas.openxmlformats.org/officeDocument/2006/relationships/notesSlide" Target="/ppt/notesSlides/notesSlide7.xml" Id="Rc0b31a5b965d49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37d91279c743f8" /><Relationship Type="http://schemas.openxmlformats.org/officeDocument/2006/relationships/notesSlide" Target="/ppt/notesSlides/notesSlide8.xml" Id="R05e1004de1874521" /></Relationships>
</file>

<file path=ppt/slides/slide1.xml><?xml version="1.0" encoding="utf-8"?>
<p:sld xmlns:p="http://schemas.openxmlformats.org/presentationml/2006/main">
  <p:cSld>
    <p:bg>
      <p:bgPr>
        <a:solidFill xmlns:a="http://schemas.openxmlformats.org/drawingml/2006/main">
          <a:srgbClr val="0E3528"/>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A1DD49EE-5197-4A2C-8871-2277064084D8}"/>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8DFC1"/>
                </a:solidFill>
                <a:latin typeface="Arial"/>
                <a:ea typeface="Arial"/>
                <a:cs typeface="Arial"/>
              </a:defRPr>
            </a:pPr>
            <a:r>
              <a:rPr sz="1350" b="0">
                <a:solidFill>
                  <a:srgbClr val="C8DFC1"/>
                </a:solidFill>
                <a:latin typeface="Arial"/>
                <a:ea typeface="Arial"/>
                <a:cs typeface="Arial"/>
              </a:rPr>
              <a:t>01</a:t>
            </a:r>
          </a:p>
        </p:txBody>
      </p:sp>
      <p:sp>
        <p:nvSpPr>
          <p:cNvPr id="2" name="BusGuard">
            <a:extLst xmlns:a="http://schemas.openxmlformats.org/drawingml/2006/main">
              <a:ext uri="{FF2B5EF4-FFF2-40B4-BE49-F238E27FC236}">
                <a16:creationId xmlns:a16="http://schemas.microsoft.com/office/drawing/2014/main" id="{57667C33-BBE8-4A47-BA17-52F3FF9E882D}"/>
              </a:ext>
            </a:extLst>
          </p:cNvPr>
          <p:cNvSpPr>
            <a:spLocks xmlns:a="http://schemas.openxmlformats.org/drawingml/2006/main" noGrp="1"/>
          </p:cNvSpPr>
          <p:nvPr/>
        </p:nvSpPr>
        <p:spPr>
          <a:xfrm xmlns:a="http://schemas.openxmlformats.org/drawingml/2006/main">
            <a:off x="685800" y="1000125"/>
            <a:ext cx="5334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F4FAEF"/>
                </a:solidFill>
                <a:latin typeface="Arial"/>
                <a:ea typeface="Arial"/>
                <a:cs typeface="Arial"/>
              </a:defRPr>
            </a:pPr>
            <a:r>
              <a:rPr sz="6000" b="1">
                <a:solidFill>
                  <a:srgbClr val="F4FAEF"/>
                </a:solidFill>
                <a:latin typeface="Arial"/>
                <a:ea typeface="Arial"/>
                <a:cs typeface="Arial"/>
              </a:rPr>
              <a:t>BusGuard</a:t>
            </a:r>
          </a:p>
        </p:txBody>
      </p:sp>
      <p:sp>
        <p:nvSpPr>
          <p:cNvPr id="3" name="Autonomous&#10;passenger assistance">
            <a:extLst xmlns:a="http://schemas.openxmlformats.org/drawingml/2006/main">
              <a:ext uri="{FF2B5EF4-FFF2-40B4-BE49-F238E27FC236}">
                <a16:creationId xmlns:a16="http://schemas.microsoft.com/office/drawing/2014/main" id="{41B0966B-0C8C-4458-B936-57B643EEABA4}"/>
              </a:ext>
            </a:extLst>
          </p:cNvPr>
          <p:cNvSpPr>
            <a:spLocks xmlns:a="http://schemas.openxmlformats.org/drawingml/2006/main" noGrp="1"/>
          </p:cNvSpPr>
          <p:nvPr/>
        </p:nvSpPr>
        <p:spPr>
          <a:xfrm xmlns:a="http://schemas.openxmlformats.org/drawingml/2006/main">
            <a:off x="723900" y="2400300"/>
            <a:ext cx="52197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F4FAEF"/>
                </a:solidFill>
                <a:latin typeface="Arial"/>
                <a:ea typeface="Arial"/>
                <a:cs typeface="Arial"/>
              </a:defRPr>
            </a:pPr>
            <a:r>
              <a:rPr sz="3450" b="0">
                <a:solidFill>
                  <a:srgbClr val="F4FAEF"/>
                </a:solidFill>
                <a:latin typeface="Arial"/>
                <a:ea typeface="Arial"/>
                <a:cs typeface="Arial"/>
              </a:rPr>
              <a:t>Autonomous</a:t>
            </a:r>
          </a:p>
          <a:p xmlns:a="http://schemas.openxmlformats.org/drawingml/2006/main">
            <a:pPr algn="l">
              <a:defRPr sz="3450" b="0">
                <a:solidFill>
                  <a:srgbClr val="F4FAEF"/>
                </a:solidFill>
                <a:latin typeface="Arial"/>
                <a:ea typeface="Arial"/>
                <a:cs typeface="Arial"/>
              </a:defRPr>
            </a:pPr>
            <a:r>
              <a:rPr sz="3450" b="0">
                <a:solidFill>
                  <a:srgbClr val="F4FAEF"/>
                </a:solidFill>
                <a:latin typeface="Arial"/>
                <a:ea typeface="Arial"/>
                <a:cs typeface="Arial"/>
              </a:rPr>
              <a:t>passenger assistance</a:t>
            </a:r>
          </a:p>
        </p:txBody>
      </p:sp>
      <p:sp>
        <p:nvSpPr>
          <p:cNvPr id="4" name="Singapore BusTech Grand Challenge 2026">
            <a:extLst xmlns:a="http://schemas.openxmlformats.org/drawingml/2006/main">
              <a:ext uri="{FF2B5EF4-FFF2-40B4-BE49-F238E27FC236}">
                <a16:creationId xmlns:a16="http://schemas.microsoft.com/office/drawing/2014/main" id="{E1733EB6-61BE-41F2-B5CE-452442562C37}"/>
              </a:ext>
            </a:extLst>
          </p:cNvPr>
          <p:cNvSpPr>
            <a:spLocks xmlns:a="http://schemas.openxmlformats.org/drawingml/2006/main" noGrp="1"/>
          </p:cNvSpPr>
          <p:nvPr/>
        </p:nvSpPr>
        <p:spPr>
          <a:xfrm xmlns:a="http://schemas.openxmlformats.org/drawingml/2006/main">
            <a:off x="723900" y="433387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8DFC1"/>
                </a:solidFill>
                <a:latin typeface="Arial"/>
                <a:ea typeface="Arial"/>
                <a:cs typeface="Arial"/>
              </a:defRPr>
            </a:pPr>
            <a:r>
              <a:rPr sz="1950" b="0">
                <a:solidFill>
                  <a:srgbClr val="C8DFC1"/>
                </a:solidFill>
                <a:latin typeface="Arial"/>
                <a:ea typeface="Arial"/>
                <a:cs typeface="Arial"/>
              </a:rPr>
              <a:t>Singapore BusTech Grand Challenge 2026</a:t>
            </a:r>
          </a:p>
        </p:txBody>
      </p:sp>
      <p:sp>
        <p:nvSpPr>
          <p:cNvPr id="5" name="IHL Student Category">
            <a:extLst xmlns:a="http://schemas.openxmlformats.org/drawingml/2006/main">
              <a:ext uri="{FF2B5EF4-FFF2-40B4-BE49-F238E27FC236}">
                <a16:creationId xmlns:a16="http://schemas.microsoft.com/office/drawing/2014/main" id="{4056F688-2419-454D-9392-5E41C933E710}"/>
              </a:ext>
            </a:extLst>
          </p:cNvPr>
          <p:cNvSpPr>
            <a:spLocks xmlns:a="http://schemas.openxmlformats.org/drawingml/2006/main" noGrp="1"/>
          </p:cNvSpPr>
          <p:nvPr/>
        </p:nvSpPr>
        <p:spPr>
          <a:xfrm xmlns:a="http://schemas.openxmlformats.org/drawingml/2006/main">
            <a:off x="723900" y="4762500"/>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8DFC1"/>
                </a:solidFill>
                <a:latin typeface="Arial"/>
                <a:ea typeface="Arial"/>
                <a:cs typeface="Arial"/>
              </a:defRPr>
            </a:pPr>
            <a:r>
              <a:rPr sz="1725" b="0">
                <a:solidFill>
                  <a:srgbClr val="C8DFC1"/>
                </a:solidFill>
                <a:latin typeface="Arial"/>
                <a:ea typeface="Arial"/>
                <a:cs typeface="Arial"/>
              </a:rPr>
              <a:t>IHL Student Category</a:t>
            </a:r>
          </a:p>
        </p:txBody>
      </p:sp>
      <p:sp>
        <p:nvSpPr>
          <p:cNvPr id="6" name="Team and institution: TBC">
            <a:extLst xmlns:a="http://schemas.openxmlformats.org/drawingml/2006/main">
              <a:ext uri="{FF2B5EF4-FFF2-40B4-BE49-F238E27FC236}">
                <a16:creationId xmlns:a16="http://schemas.microsoft.com/office/drawing/2014/main" id="{D95DD97D-5D07-4223-BAB4-5BC14DAEE7A0}"/>
              </a:ext>
            </a:extLst>
          </p:cNvPr>
          <p:cNvSpPr>
            <a:spLocks xmlns:a="http://schemas.openxmlformats.org/drawingml/2006/main" noGrp="1"/>
          </p:cNvSpPr>
          <p:nvPr/>
        </p:nvSpPr>
        <p:spPr>
          <a:xfrm xmlns:a="http://schemas.openxmlformats.org/drawingml/2006/main">
            <a:off x="723900" y="5724525"/>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8DFC1"/>
                </a:solidFill>
                <a:latin typeface="Arial"/>
                <a:ea typeface="Arial"/>
                <a:cs typeface="Arial"/>
              </a:defRPr>
            </a:pPr>
            <a:r>
              <a:rPr sz="1650" b="0">
                <a:solidFill>
                  <a:srgbClr val="C8DFC1"/>
                </a:solidFill>
                <a:latin typeface="Arial"/>
                <a:ea typeface="Arial"/>
                <a:cs typeface="Arial"/>
              </a:rPr>
              <a:t>Team and institution: TBC</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1748f319cc84a2d"/>
          <a:stretch xmlns:a="http://schemas.openxmlformats.org/drawingml/2006/main"/>
        </p:blipFill>
        <p:spPr>
          <a:xfrm xmlns:a="http://schemas.openxmlformats.org/drawingml/2006/main">
            <a:off x="6267450" y="1727002"/>
            <a:ext cx="5238750" cy="2946797"/>
          </a:xfrm>
          <a:prstGeom xmlns:a="http://schemas.openxmlformats.org/drawingml/2006/main" prst="rect">
            <a:avLst/>
          </a:prstGeom>
        </p:spPr>
      </p:pic>
      <p:sp>
        <p:nvSpPr>
          <p:cNvPr id="8" name="3D software preview">
            <a:extLst xmlns:a="http://schemas.openxmlformats.org/drawingml/2006/main">
              <a:ext uri="{FF2B5EF4-FFF2-40B4-BE49-F238E27FC236}">
                <a16:creationId xmlns:a16="http://schemas.microsoft.com/office/drawing/2014/main" id="{2F4C6D8A-0740-49C1-AB60-9D73B34931C3}"/>
              </a:ext>
            </a:extLst>
          </p:cNvPr>
          <p:cNvSpPr>
            <a:spLocks xmlns:a="http://schemas.openxmlformats.org/drawingml/2006/main" noGrp="1"/>
          </p:cNvSpPr>
          <p:nvPr/>
        </p:nvSpPr>
        <p:spPr>
          <a:xfrm xmlns:a="http://schemas.openxmlformats.org/drawingml/2006/main">
            <a:off x="6305550" y="4962525"/>
            <a:ext cx="520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C8DFC1"/>
                </a:solidFill>
                <a:latin typeface="Arial"/>
                <a:ea typeface="Arial"/>
                <a:cs typeface="Arial"/>
              </a:defRPr>
            </a:pPr>
            <a:r>
              <a:rPr sz="1575" b="0">
                <a:solidFill>
                  <a:srgbClr val="C8DFC1"/>
                </a:solidFill>
                <a:latin typeface="Arial"/>
                <a:ea typeface="Arial"/>
                <a:cs typeface="Arial"/>
              </a:rPr>
              <a:t>3D software preview</a:t>
            </a:r>
          </a:p>
        </p:txBody>
      </p:sp>
    </p:spTree>
    <p:extLst>
      <p:ext uri="{BB962C8B-B14F-4D97-AF65-F5344CB8AC3E}">
        <p14:creationId xmlns:p14="http://schemas.microsoft.com/office/powerpoint/2010/main" val="1479078377"/>
      </p:ext>
    </p:extLst>
  </p:cSld>
</p:sld>
</file>

<file path=ppt/slides/slide2.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E1501FF5-01F3-42B3-96C2-19EEA49D4869}"/>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Assistance at the bus stop</a:t>
            </a:r>
          </a:p>
        </p:txBody>
      </p:sp>
      <p:sp>
        <p:nvSpPr>
          <p:cNvPr id="2" name="02">
            <a:extLst xmlns:a="http://schemas.openxmlformats.org/drawingml/2006/main">
              <a:ext uri="{FF2B5EF4-FFF2-40B4-BE49-F238E27FC236}">
                <a16:creationId xmlns:a16="http://schemas.microsoft.com/office/drawing/2014/main" id="{7161063B-7226-42EA-92DC-DC5FB1D7843A}"/>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02</a:t>
            </a:r>
          </a:p>
        </p:txBody>
      </p:sp>
      <p:sp>
        <p:nvSpPr>
          <p:cNvPr id="3" name="Passengers need a clear&#10;way to ask for h">
            <a:extLst xmlns:a="http://schemas.openxmlformats.org/drawingml/2006/main">
              <a:ext uri="{FF2B5EF4-FFF2-40B4-BE49-F238E27FC236}">
                <a16:creationId xmlns:a16="http://schemas.microsoft.com/office/drawing/2014/main" id="{2BDA56A8-DD3B-43A9-9AE6-E15E15E56866}"/>
              </a:ext>
            </a:extLst>
          </p:cNvPr>
          <p:cNvSpPr>
            <a:spLocks xmlns:a="http://schemas.openxmlformats.org/drawingml/2006/main" noGrp="1"/>
          </p:cNvSpPr>
          <p:nvPr/>
        </p:nvSpPr>
        <p:spPr>
          <a:xfrm xmlns:a="http://schemas.openxmlformats.org/drawingml/2006/main">
            <a:off x="685800" y="1905000"/>
            <a:ext cx="5524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03F30"/>
                </a:solidFill>
                <a:latin typeface="Arial"/>
                <a:ea typeface="Arial"/>
                <a:cs typeface="Arial"/>
              </a:defRPr>
            </a:pPr>
            <a:r>
              <a:rPr sz="3225" b="1">
                <a:solidFill>
                  <a:srgbClr val="103F30"/>
                </a:solidFill>
                <a:latin typeface="Arial"/>
                <a:ea typeface="Arial"/>
                <a:cs typeface="Arial"/>
              </a:rPr>
              <a:t>Passengers need a clear</a:t>
            </a:r>
          </a:p>
          <a:p xmlns:a="http://schemas.openxmlformats.org/drawingml/2006/main">
            <a:pPr algn="l">
              <a:defRPr sz="3225" b="1">
                <a:solidFill>
                  <a:srgbClr val="103F30"/>
                </a:solidFill>
                <a:latin typeface="Arial"/>
                <a:ea typeface="Arial"/>
                <a:cs typeface="Arial"/>
              </a:defRPr>
            </a:pPr>
            <a:r>
              <a:rPr sz="3225" b="1">
                <a:solidFill>
                  <a:srgbClr val="103F30"/>
                </a:solidFill>
                <a:latin typeface="Arial"/>
                <a:ea typeface="Arial"/>
                <a:cs typeface="Arial"/>
              </a:rPr>
              <a:t>way to ask for help and</a:t>
            </a:r>
          </a:p>
          <a:p xmlns:a="http://schemas.openxmlformats.org/drawingml/2006/main">
            <a:pPr algn="l">
              <a:defRPr sz="3225" b="1">
                <a:solidFill>
                  <a:srgbClr val="103F30"/>
                </a:solidFill>
                <a:latin typeface="Arial"/>
                <a:ea typeface="Arial"/>
                <a:cs typeface="Arial"/>
              </a:defRPr>
            </a:pPr>
            <a:r>
              <a:rPr sz="3225" b="1">
                <a:solidFill>
                  <a:srgbClr val="103F30"/>
                </a:solidFill>
                <a:latin typeface="Arial"/>
                <a:ea typeface="Arial"/>
                <a:cs typeface="Arial"/>
              </a:rPr>
              <a:t>know what happens next.</a:t>
            </a:r>
          </a:p>
        </p:txBody>
      </p:sp>
      <p:sp>
        <p:nvSpPr>
          <p:cNvPr id="4" name="More time to board or alight">
            <a:extLst xmlns:a="http://schemas.openxmlformats.org/drawingml/2006/main">
              <a:ext uri="{FF2B5EF4-FFF2-40B4-BE49-F238E27FC236}">
                <a16:creationId xmlns:a16="http://schemas.microsoft.com/office/drawing/2014/main" id="{79D25CDF-A666-40C3-8EEA-074B473DE366}"/>
              </a:ext>
            </a:extLst>
          </p:cNvPr>
          <p:cNvSpPr>
            <a:spLocks xmlns:a="http://schemas.openxmlformats.org/drawingml/2006/main" noGrp="1"/>
          </p:cNvSpPr>
          <p:nvPr/>
        </p:nvSpPr>
        <p:spPr>
          <a:xfrm xmlns:a="http://schemas.openxmlformats.org/drawingml/2006/main">
            <a:off x="7010400" y="1885950"/>
            <a:ext cx="442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More time to board or alight</a:t>
            </a:r>
          </a:p>
        </p:txBody>
      </p:sp>
      <p:sp>
        <p:nvSpPr>
          <p:cNvPr id="5" name="Step-free access">
            <a:extLst xmlns:a="http://schemas.openxmlformats.org/drawingml/2006/main">
              <a:ext uri="{FF2B5EF4-FFF2-40B4-BE49-F238E27FC236}">
                <a16:creationId xmlns:a16="http://schemas.microsoft.com/office/drawing/2014/main" id="{5172D78D-48DA-4A65-8185-FB7310B9845E}"/>
              </a:ext>
            </a:extLst>
          </p:cNvPr>
          <p:cNvSpPr>
            <a:spLocks xmlns:a="http://schemas.openxmlformats.org/drawingml/2006/main" noGrp="1"/>
          </p:cNvSpPr>
          <p:nvPr/>
        </p:nvSpPr>
        <p:spPr>
          <a:xfrm xmlns:a="http://schemas.openxmlformats.org/drawingml/2006/main">
            <a:off x="7010400" y="295275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Step-free access</a:t>
            </a:r>
          </a:p>
        </p:txBody>
      </p:sp>
      <p:sp>
        <p:nvSpPr>
          <p:cNvPr id="6" name="Spoken and visible instructions">
            <a:extLst xmlns:a="http://schemas.openxmlformats.org/drawingml/2006/main">
              <a:ext uri="{FF2B5EF4-FFF2-40B4-BE49-F238E27FC236}">
                <a16:creationId xmlns:a16="http://schemas.microsoft.com/office/drawing/2014/main" id="{E2C086C9-3AD3-4DE3-B3A0-35C4B33DA397}"/>
              </a:ext>
            </a:extLst>
          </p:cNvPr>
          <p:cNvSpPr>
            <a:spLocks xmlns:a="http://schemas.openxmlformats.org/drawingml/2006/main" noGrp="1"/>
          </p:cNvSpPr>
          <p:nvPr/>
        </p:nvSpPr>
        <p:spPr>
          <a:xfrm xmlns:a="http://schemas.openxmlformats.org/drawingml/2006/main">
            <a:off x="7010400" y="3962400"/>
            <a:ext cx="4429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Spoken and visible instructions</a:t>
            </a:r>
          </a:p>
        </p:txBody>
      </p:sp>
      <p:sp>
        <p:nvSpPr>
          <p:cNvPr id="7" name="Passengers declare age-related or pregna">
            <a:extLst xmlns:a="http://schemas.openxmlformats.org/drawingml/2006/main">
              <a:ext uri="{FF2B5EF4-FFF2-40B4-BE49-F238E27FC236}">
                <a16:creationId xmlns:a16="http://schemas.microsoft.com/office/drawing/2014/main" id="{7A162A17-2CBA-4F8B-A916-71879975BB7D}"/>
              </a:ext>
            </a:extLst>
          </p:cNvPr>
          <p:cNvSpPr>
            <a:spLocks xmlns:a="http://schemas.openxmlformats.org/drawingml/2006/main" noGrp="1"/>
          </p:cNvSpPr>
          <p:nvPr/>
        </p:nvSpPr>
        <p:spPr>
          <a:xfrm xmlns:a="http://schemas.openxmlformats.org/drawingml/2006/main">
            <a:off x="723900" y="55816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26351"/>
                </a:solidFill>
                <a:latin typeface="Arial"/>
                <a:ea typeface="Arial"/>
                <a:cs typeface="Arial"/>
              </a:defRPr>
            </a:pPr>
            <a:r>
              <a:rPr sz="1800" b="0">
                <a:solidFill>
                  <a:srgbClr val="426351"/>
                </a:solidFill>
                <a:latin typeface="Arial"/>
                <a:ea typeface="Arial"/>
                <a:cs typeface="Arial"/>
              </a:rPr>
              <a:t>Passengers declare age-related or pregnancy-related needs through a request or card profile.</a:t>
            </a:r>
          </a:p>
        </p:txBody>
      </p:sp>
    </p:spTree>
    <p:extLst>
      <p:ext uri="{BB962C8B-B14F-4D97-AF65-F5344CB8AC3E}">
        <p14:creationId xmlns:p14="http://schemas.microsoft.com/office/powerpoint/2010/main" val="1338358767"/>
      </p:ext>
    </p:extLst>
  </p:cSld>
</p:sld>
</file>

<file path=ppt/slides/slide3.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22" name="Slide title">
            <a:extLst xmlns:a="http://schemas.openxmlformats.org/drawingml/2006/main">
              <a:ext uri="{FF2B5EF4-FFF2-40B4-BE49-F238E27FC236}">
                <a16:creationId xmlns:a16="http://schemas.microsoft.com/office/drawing/2014/main" id="{2BE57EAF-D00B-4247-9399-B62F237B9F8F}"/>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One shared assistance controller</a:t>
            </a:r>
          </a:p>
        </p:txBody>
      </p:sp>
      <p:sp>
        <p:nvSpPr>
          <p:cNvPr id="2" name="03">
            <a:extLst xmlns:a="http://schemas.openxmlformats.org/drawingml/2006/main">
              <a:ext uri="{FF2B5EF4-FFF2-40B4-BE49-F238E27FC236}">
                <a16:creationId xmlns:a16="http://schemas.microsoft.com/office/drawing/2014/main" id="{E1D98A97-D052-490F-810E-23C9895E98F9}"/>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03</a:t>
            </a:r>
          </a:p>
        </p:txBody>
      </p:sp>
      <p:sp>
        <p:nvSpPr>
          <p:cNvPr id="3" name="Inputs">
            <a:extLst xmlns:a="http://schemas.openxmlformats.org/drawingml/2006/main">
              <a:ext uri="{FF2B5EF4-FFF2-40B4-BE49-F238E27FC236}">
                <a16:creationId xmlns:a16="http://schemas.microsoft.com/office/drawing/2014/main" id="{61F1843E-9799-4EB3-9A93-2BBC77FE2FA8}"/>
              </a:ext>
            </a:extLst>
          </p:cNvPr>
          <p:cNvSpPr>
            <a:spLocks xmlns:a="http://schemas.openxmlformats.org/drawingml/2006/main" noGrp="1"/>
          </p:cNvSpPr>
          <p:nvPr/>
        </p:nvSpPr>
        <p:spPr>
          <a:xfrm xmlns:a="http://schemas.openxmlformats.org/drawingml/2006/main">
            <a:off x="685800" y="1724025"/>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3F30"/>
                </a:solidFill>
                <a:latin typeface="Arial"/>
                <a:ea typeface="Arial"/>
                <a:cs typeface="Arial"/>
              </a:defRPr>
            </a:pPr>
            <a:r>
              <a:rPr sz="1950" b="1">
                <a:solidFill>
                  <a:srgbClr val="103F30"/>
                </a:solidFill>
                <a:latin typeface="Arial"/>
                <a:ea typeface="Arial"/>
                <a:cs typeface="Arial"/>
              </a:rPr>
              <a:t>Inputs</a:t>
            </a:r>
          </a:p>
        </p:txBody>
      </p:sp>
      <p:sp>
        <p:nvSpPr>
          <p:cNvPr id="4" name="Local server">
            <a:extLst xmlns:a="http://schemas.openxmlformats.org/drawingml/2006/main">
              <a:ext uri="{FF2B5EF4-FFF2-40B4-BE49-F238E27FC236}">
                <a16:creationId xmlns:a16="http://schemas.microsoft.com/office/drawing/2014/main" id="{DC2C57EA-4488-4997-84FD-7106309D3773}"/>
              </a:ext>
            </a:extLst>
          </p:cNvPr>
          <p:cNvSpPr>
            <a:spLocks xmlns:a="http://schemas.openxmlformats.org/drawingml/2006/main" noGrp="1"/>
          </p:cNvSpPr>
          <p:nvPr/>
        </p:nvSpPr>
        <p:spPr>
          <a:xfrm xmlns:a="http://schemas.openxmlformats.org/drawingml/2006/main">
            <a:off x="4391025" y="1724025"/>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3F30"/>
                </a:solidFill>
                <a:latin typeface="Arial"/>
                <a:ea typeface="Arial"/>
                <a:cs typeface="Arial"/>
              </a:defRPr>
            </a:pPr>
            <a:r>
              <a:rPr sz="1950" b="1">
                <a:solidFill>
                  <a:srgbClr val="103F30"/>
                </a:solidFill>
                <a:latin typeface="Arial"/>
                <a:ea typeface="Arial"/>
                <a:cs typeface="Arial"/>
              </a:rPr>
              <a:t>Local server</a:t>
            </a:r>
          </a:p>
        </p:txBody>
      </p:sp>
      <p:sp>
        <p:nvSpPr>
          <p:cNvPr id="5" name="Connected websites">
            <a:extLst xmlns:a="http://schemas.openxmlformats.org/drawingml/2006/main">
              <a:ext uri="{FF2B5EF4-FFF2-40B4-BE49-F238E27FC236}">
                <a16:creationId xmlns:a16="http://schemas.microsoft.com/office/drawing/2014/main" id="{92E6161C-F69A-4C1D-9791-B170C24EDA5B}"/>
              </a:ext>
            </a:extLst>
          </p:cNvPr>
          <p:cNvSpPr>
            <a:spLocks xmlns:a="http://schemas.openxmlformats.org/drawingml/2006/main" noGrp="1"/>
          </p:cNvSpPr>
          <p:nvPr/>
        </p:nvSpPr>
        <p:spPr>
          <a:xfrm xmlns:a="http://schemas.openxmlformats.org/drawingml/2006/main">
            <a:off x="8782050" y="17240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3F30"/>
                </a:solidFill>
                <a:latin typeface="Arial"/>
                <a:ea typeface="Arial"/>
                <a:cs typeface="Arial"/>
              </a:defRPr>
            </a:pPr>
            <a:r>
              <a:rPr sz="1950" b="1">
                <a:solidFill>
                  <a:srgbClr val="103F30"/>
                </a:solidFill>
                <a:latin typeface="Arial"/>
                <a:ea typeface="Arial"/>
                <a:cs typeface="Arial"/>
              </a:rPr>
              <a:t>Connected websites</a:t>
            </a:r>
          </a:p>
        </p:txBody>
      </p:sp>
      <p:sp>
        <p:nvSpPr>
          <p:cNvPr id="6" name="Outside CCTV">
            <a:extLst xmlns:a="http://schemas.openxmlformats.org/drawingml/2006/main">
              <a:ext uri="{FF2B5EF4-FFF2-40B4-BE49-F238E27FC236}">
                <a16:creationId xmlns:a16="http://schemas.microsoft.com/office/drawing/2014/main" id="{241E6DAC-E49E-409B-A470-FA1E2ABAD922}"/>
              </a:ext>
            </a:extLst>
          </p:cNvPr>
          <p:cNvSpPr>
            <a:spLocks xmlns:a="http://schemas.openxmlformats.org/drawingml/2006/main" noGrp="1"/>
          </p:cNvSpPr>
          <p:nvPr/>
        </p:nvSpPr>
        <p:spPr>
          <a:xfrm xmlns:a="http://schemas.openxmlformats.org/drawingml/2006/main">
            <a:off x="685800" y="2305050"/>
            <a:ext cx="2571750" cy="695325"/>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Outside CCTV</a:t>
            </a:r>
          </a:p>
        </p:txBody>
      </p:sp>
      <p:sp>
        <p:nvSpPr>
          <p:cNvPr id="7" name="Inside CCTV">
            <a:extLst xmlns:a="http://schemas.openxmlformats.org/drawingml/2006/main">
              <a:ext uri="{FF2B5EF4-FFF2-40B4-BE49-F238E27FC236}">
                <a16:creationId xmlns:a16="http://schemas.microsoft.com/office/drawing/2014/main" id="{CE3BDAE0-EB17-41C7-9C63-E896D36860A0}"/>
              </a:ext>
            </a:extLst>
          </p:cNvPr>
          <p:cNvSpPr>
            <a:spLocks xmlns:a="http://schemas.openxmlformats.org/drawingml/2006/main" noGrp="1"/>
          </p:cNvSpPr>
          <p:nvPr/>
        </p:nvSpPr>
        <p:spPr>
          <a:xfrm xmlns:a="http://schemas.openxmlformats.org/drawingml/2006/main">
            <a:off x="685800" y="3171825"/>
            <a:ext cx="2571750" cy="695325"/>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Inside CCTV</a:t>
            </a:r>
          </a:p>
        </p:txBody>
      </p:sp>
      <p:sp>
        <p:nvSpPr>
          <p:cNvPr id="8" name="ESP32 RFID">
            <a:extLst xmlns:a="http://schemas.openxmlformats.org/drawingml/2006/main">
              <a:ext uri="{FF2B5EF4-FFF2-40B4-BE49-F238E27FC236}">
                <a16:creationId xmlns:a16="http://schemas.microsoft.com/office/drawing/2014/main" id="{6A68F726-FAB4-4D09-AD9F-73EFA06721D5}"/>
              </a:ext>
            </a:extLst>
          </p:cNvPr>
          <p:cNvSpPr>
            <a:spLocks xmlns:a="http://schemas.openxmlformats.org/drawingml/2006/main" noGrp="1"/>
          </p:cNvSpPr>
          <p:nvPr/>
        </p:nvSpPr>
        <p:spPr>
          <a:xfrm xmlns:a="http://schemas.openxmlformats.org/drawingml/2006/main">
            <a:off x="685800" y="4038600"/>
            <a:ext cx="2571750" cy="695325"/>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ESP32 RFID</a:t>
            </a:r>
          </a:p>
        </p:txBody>
      </p:sp>
      <p:sp>
        <p:nvSpPr>
          <p:cNvPr id="9" name="Passenger requests">
            <a:extLst xmlns:a="http://schemas.openxmlformats.org/drawingml/2006/main">
              <a:ext uri="{FF2B5EF4-FFF2-40B4-BE49-F238E27FC236}">
                <a16:creationId xmlns:a16="http://schemas.microsoft.com/office/drawing/2014/main" id="{292B7B66-E4E5-476D-9DC4-F0C8C04585DD}"/>
              </a:ext>
            </a:extLst>
          </p:cNvPr>
          <p:cNvSpPr>
            <a:spLocks xmlns:a="http://schemas.openxmlformats.org/drawingml/2006/main" noGrp="1"/>
          </p:cNvSpPr>
          <p:nvPr/>
        </p:nvSpPr>
        <p:spPr>
          <a:xfrm xmlns:a="http://schemas.openxmlformats.org/drawingml/2006/main">
            <a:off x="685800" y="4905375"/>
            <a:ext cx="2571750" cy="695325"/>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Passenger requests</a:t>
            </a:r>
          </a:p>
        </p:txBody>
      </p:sp>
      <p:sp>
        <p:nvSpPr>
          <p:cNvPr id="10" name="Detection and tracking&#10;&#10;Assistance rules&#10;&#10;Shared bus state">
            <a:extLst xmlns:a="http://schemas.openxmlformats.org/drawingml/2006/main">
              <a:ext uri="{FF2B5EF4-FFF2-40B4-BE49-F238E27FC236}">
                <a16:creationId xmlns:a16="http://schemas.microsoft.com/office/drawing/2014/main" id="{6B48C2D8-3B49-4785-AB71-D70DD07DE2D4}"/>
              </a:ext>
            </a:extLst>
          </p:cNvPr>
          <p:cNvSpPr>
            <a:spLocks xmlns:a="http://schemas.openxmlformats.org/drawingml/2006/main" noGrp="1"/>
          </p:cNvSpPr>
          <p:nvPr/>
        </p:nvSpPr>
        <p:spPr>
          <a:xfrm xmlns:a="http://schemas.openxmlformats.org/drawingml/2006/main">
            <a:off x="4324350" y="2533650"/>
            <a:ext cx="3400425" cy="2714625"/>
          </a:xfrm>
          <a:prstGeom xmlns:a="http://schemas.openxmlformats.org/drawingml/2006/main" prst="rect">
            <a:avLst/>
          </a:prstGeom>
          <a:solidFill xmlns:a="http://schemas.openxmlformats.org/drawingml/2006/main">
            <a:srgbClr val="23694D"/>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100" b="1">
                <a:solidFill>
                  <a:srgbClr val="F4FAEF"/>
                </a:solidFill>
                <a:latin typeface="Arial"/>
                <a:ea typeface="Arial"/>
                <a:cs typeface="Arial"/>
              </a:defRPr>
            </a:pPr>
            <a:r>
              <a:rPr sz="2100" b="1">
                <a:solidFill>
                  <a:srgbClr val="F4FAEF"/>
                </a:solidFill>
                <a:latin typeface="Arial"/>
                <a:ea typeface="Arial"/>
                <a:cs typeface="Arial"/>
              </a:rPr>
              <a:t>Detection and tracking</a:t>
            </a:r>
          </a:p>
          <a:p xmlns:a="http://schemas.openxmlformats.org/drawingml/2006/main">
            <a:r>
              <a:t/>
            </a:r>
          </a:p>
          <a:p xmlns:a="http://schemas.openxmlformats.org/drawingml/2006/main">
            <a:pPr algn="ctr">
              <a:defRPr sz="2100" b="1">
                <a:solidFill>
                  <a:srgbClr val="F4FAEF"/>
                </a:solidFill>
                <a:latin typeface="Arial"/>
                <a:ea typeface="Arial"/>
                <a:cs typeface="Arial"/>
              </a:defRPr>
            </a:pPr>
            <a:r>
              <a:rPr sz="2100" b="1">
                <a:solidFill>
                  <a:srgbClr val="F4FAEF"/>
                </a:solidFill>
                <a:latin typeface="Arial"/>
                <a:ea typeface="Arial"/>
                <a:cs typeface="Arial"/>
              </a:rPr>
              <a:t>Assistance rules</a:t>
            </a:r>
          </a:p>
          <a:p xmlns:a="http://schemas.openxmlformats.org/drawingml/2006/main">
            <a:r>
              <a:t/>
            </a:r>
          </a:p>
          <a:p xmlns:a="http://schemas.openxmlformats.org/drawingml/2006/main">
            <a:pPr algn="ctr">
              <a:defRPr sz="2100" b="1">
                <a:solidFill>
                  <a:srgbClr val="F4FAEF"/>
                </a:solidFill>
                <a:latin typeface="Arial"/>
                <a:ea typeface="Arial"/>
                <a:cs typeface="Arial"/>
              </a:defRPr>
            </a:pPr>
            <a:r>
              <a:rPr sz="2100" b="1">
                <a:solidFill>
                  <a:srgbClr val="F4FAEF"/>
                </a:solidFill>
                <a:latin typeface="Arial"/>
                <a:ea typeface="Arial"/>
                <a:cs typeface="Arial"/>
              </a:rPr>
              <a:t>Shared bus state</a:t>
            </a:r>
          </a:p>
        </p:txBody>
      </p:sp>
      <p:sp>
        <p:nvSpPr>
          <p:cNvPr id="11" name="Detection console">
            <a:extLst xmlns:a="http://schemas.openxmlformats.org/drawingml/2006/main">
              <a:ext uri="{FF2B5EF4-FFF2-40B4-BE49-F238E27FC236}">
                <a16:creationId xmlns:a16="http://schemas.microsoft.com/office/drawing/2014/main" id="{5E3AC52B-84F0-4297-9F23-CA4B69D78C33}"/>
              </a:ext>
            </a:extLst>
          </p:cNvPr>
          <p:cNvSpPr>
            <a:spLocks xmlns:a="http://schemas.openxmlformats.org/drawingml/2006/main" noGrp="1"/>
          </p:cNvSpPr>
          <p:nvPr/>
        </p:nvSpPr>
        <p:spPr>
          <a:xfrm xmlns:a="http://schemas.openxmlformats.org/drawingml/2006/main">
            <a:off x="8829675" y="2533650"/>
            <a:ext cx="2647950" cy="762000"/>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Detection console</a:t>
            </a:r>
          </a:p>
        </p:txBody>
      </p:sp>
      <p:sp>
        <p:nvSpPr>
          <p:cNvPr id="12" name="Passenger app">
            <a:extLst xmlns:a="http://schemas.openxmlformats.org/drawingml/2006/main">
              <a:ext uri="{FF2B5EF4-FFF2-40B4-BE49-F238E27FC236}">
                <a16:creationId xmlns:a16="http://schemas.microsoft.com/office/drawing/2014/main" id="{6194DDAE-AE98-4A18-9856-19703BB78807}"/>
              </a:ext>
            </a:extLst>
          </p:cNvPr>
          <p:cNvSpPr>
            <a:spLocks xmlns:a="http://schemas.openxmlformats.org/drawingml/2006/main" noGrp="1"/>
          </p:cNvSpPr>
          <p:nvPr/>
        </p:nvSpPr>
        <p:spPr>
          <a:xfrm xmlns:a="http://schemas.openxmlformats.org/drawingml/2006/main">
            <a:off x="8829675" y="3695700"/>
            <a:ext cx="2647950" cy="762000"/>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Passenger app</a:t>
            </a:r>
          </a:p>
        </p:txBody>
      </p:sp>
      <p:sp>
        <p:nvSpPr>
          <p:cNvPr id="13" name="3D bus display">
            <a:extLst xmlns:a="http://schemas.openxmlformats.org/drawingml/2006/main">
              <a:ext uri="{FF2B5EF4-FFF2-40B4-BE49-F238E27FC236}">
                <a16:creationId xmlns:a16="http://schemas.microsoft.com/office/drawing/2014/main" id="{4DDAFD45-853F-485B-AC8C-74F3822BF5B6}"/>
              </a:ext>
            </a:extLst>
          </p:cNvPr>
          <p:cNvSpPr>
            <a:spLocks xmlns:a="http://schemas.openxmlformats.org/drawingml/2006/main" noGrp="1"/>
          </p:cNvSpPr>
          <p:nvPr/>
        </p:nvSpPr>
        <p:spPr>
          <a:xfrm xmlns:a="http://schemas.openxmlformats.org/drawingml/2006/main">
            <a:off x="8829675" y="4857750"/>
            <a:ext cx="2647950" cy="762000"/>
          </a:xfrm>
          <a:prstGeom xmlns:a="http://schemas.openxmlformats.org/drawingml/2006/main" prst="rect">
            <a:avLst/>
          </a:prstGeom>
          <a:solidFill xmlns:a="http://schemas.openxmlformats.org/drawingml/2006/main">
            <a:srgbClr val="C8DFC1"/>
          </a:solidFill>
          <a:ln xmlns:a="http://schemas.openxmlformats.org/drawingml/2006/main" w="9525">
            <a:solidFill>
              <a:srgbClr val="23694D"/>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0">
                <a:solidFill>
                  <a:srgbClr val="103F30"/>
                </a:solidFill>
                <a:latin typeface="Arial"/>
                <a:ea typeface="Arial"/>
                <a:cs typeface="Arial"/>
              </a:defRPr>
            </a:pPr>
            <a:r>
              <a:rPr sz="1950" b="0">
                <a:solidFill>
                  <a:srgbClr val="103F30"/>
                </a:solidFill>
                <a:latin typeface="Arial"/>
                <a:ea typeface="Arial"/>
                <a:cs typeface="Arial"/>
              </a:rPr>
              <a:t>3D bus display</a:t>
            </a:r>
          </a:p>
        </p:txBody>
      </p:sp>
      <p:cxnSp>
        <p:nvCxnSpPr>
          <p:cNvPr id="35" name=""/>
          <p:cNvCxnSpPr>
            <a:stCxn xmlns:a="http://schemas.openxmlformats.org/drawingml/2006/main" id="6" idx="3"/>
            <a:endCxn xmlns:a="http://schemas.openxmlformats.org/drawingml/2006/main" id="10" idx="1"/>
          </p:cNvCxnSpPr>
          <p:nvPr/>
        </p:nvCxnSpPr>
        <p:spPr>
          <a:xfrm xmlns:a="http://schemas.openxmlformats.org/drawingml/2006/main">
            <a:off x="3257550" y="2652713"/>
            <a:ext cx="1066800" cy="1238250"/>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36" name=""/>
          <p:cNvCxnSpPr>
            <a:stCxn xmlns:a="http://schemas.openxmlformats.org/drawingml/2006/main" id="7" idx="3"/>
            <a:endCxn xmlns:a="http://schemas.openxmlformats.org/drawingml/2006/main" id="10" idx="1"/>
          </p:cNvCxnSpPr>
          <p:nvPr/>
        </p:nvCxnSpPr>
        <p:spPr>
          <a:xfrm xmlns:a="http://schemas.openxmlformats.org/drawingml/2006/main">
            <a:off x="3257550" y="3519488"/>
            <a:ext cx="1066800" cy="371475"/>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37" name=""/>
          <p:cNvCxnSpPr>
            <a:stCxn xmlns:a="http://schemas.openxmlformats.org/drawingml/2006/main" id="8" idx="3"/>
            <a:endCxn xmlns:a="http://schemas.openxmlformats.org/drawingml/2006/main" id="10" idx="1"/>
          </p:cNvCxnSpPr>
          <p:nvPr/>
        </p:nvCxnSpPr>
        <p:spPr>
          <a:xfrm xmlns:a="http://schemas.openxmlformats.org/drawingml/2006/main" flipV="1">
            <a:off x="3257550" y="3890963"/>
            <a:ext cx="1066800" cy="495300"/>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38" name=""/>
          <p:cNvCxnSpPr>
            <a:stCxn xmlns:a="http://schemas.openxmlformats.org/drawingml/2006/main" id="9" idx="3"/>
            <a:endCxn xmlns:a="http://schemas.openxmlformats.org/drawingml/2006/main" id="10" idx="1"/>
          </p:cNvCxnSpPr>
          <p:nvPr/>
        </p:nvCxnSpPr>
        <p:spPr>
          <a:xfrm xmlns:a="http://schemas.openxmlformats.org/drawingml/2006/main" flipV="1">
            <a:off x="3257550" y="3890963"/>
            <a:ext cx="1066800" cy="1362075"/>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39" name=""/>
          <p:cNvCxnSpPr>
            <a:stCxn xmlns:a="http://schemas.openxmlformats.org/drawingml/2006/main" id="10" idx="3"/>
            <a:endCxn xmlns:a="http://schemas.openxmlformats.org/drawingml/2006/main" id="11" idx="1"/>
          </p:cNvCxnSpPr>
          <p:nvPr/>
        </p:nvCxnSpPr>
        <p:spPr>
          <a:xfrm xmlns:a="http://schemas.openxmlformats.org/drawingml/2006/main" flipV="1">
            <a:off x="7724775" y="2914650"/>
            <a:ext cx="1104900" cy="976313"/>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40" name=""/>
          <p:cNvCxnSpPr>
            <a:stCxn xmlns:a="http://schemas.openxmlformats.org/drawingml/2006/main" id="10" idx="3"/>
            <a:endCxn xmlns:a="http://schemas.openxmlformats.org/drawingml/2006/main" id="12" idx="1"/>
          </p:cNvCxnSpPr>
          <p:nvPr/>
        </p:nvCxnSpPr>
        <p:spPr>
          <a:xfrm xmlns:a="http://schemas.openxmlformats.org/drawingml/2006/main">
            <a:off x="7724775" y="3890963"/>
            <a:ext cx="1104900" cy="185738"/>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cxnSp>
        <p:nvCxnSpPr>
          <p:cNvPr id="41" name=""/>
          <p:cNvCxnSpPr>
            <a:stCxn xmlns:a="http://schemas.openxmlformats.org/drawingml/2006/main" id="10" idx="3"/>
            <a:endCxn xmlns:a="http://schemas.openxmlformats.org/drawingml/2006/main" id="13" idx="1"/>
          </p:cNvCxnSpPr>
          <p:nvPr/>
        </p:nvCxnSpPr>
        <p:spPr>
          <a:xfrm xmlns:a="http://schemas.openxmlformats.org/drawingml/2006/main">
            <a:off x="7724775" y="3890963"/>
            <a:ext cx="1104900" cy="1347788"/>
          </a:xfrm>
          <a:prstGeom xmlns:a="http://schemas.openxmlformats.org/drawingml/2006/main" prst="bentConnector3">
            <a:avLst>
              <a:gd name="adj1" fmla="val 50000"/>
            </a:avLst>
          </a:prstGeom>
          <a:ln xmlns:a="http://schemas.openxmlformats.org/drawingml/2006/main" w="19050">
            <a:solidFill>
              <a:srgbClr val="23694D"/>
            </a:solidFill>
            <a:tailEnd type="triangle" w="sm" len="sm"/>
          </a:ln>
        </p:spPr>
      </p:cxnSp>
      <p:sp>
        <p:nvSpPr>
          <p:cNvPr id="21" name="Cameras and RFID supply physical inputs.">
            <a:extLst xmlns:a="http://schemas.openxmlformats.org/drawingml/2006/main">
              <a:ext uri="{FF2B5EF4-FFF2-40B4-BE49-F238E27FC236}">
                <a16:creationId xmlns:a16="http://schemas.microsoft.com/office/drawing/2014/main" id="{0BCD2923-F208-42FD-99AA-BFB8854F2DAE}"/>
              </a:ext>
            </a:extLst>
          </p:cNvPr>
          <p:cNvSpPr>
            <a:spLocks xmlns:a="http://schemas.openxmlformats.org/drawingml/2006/main" noGrp="1"/>
          </p:cNvSpPr>
          <p:nvPr/>
        </p:nvSpPr>
        <p:spPr>
          <a:xfrm xmlns:a="http://schemas.openxmlformats.org/drawingml/2006/main">
            <a:off x="704850" y="59626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26351"/>
                </a:solidFill>
                <a:latin typeface="Arial"/>
                <a:ea typeface="Arial"/>
                <a:cs typeface="Arial"/>
              </a:defRPr>
            </a:pPr>
            <a:r>
              <a:rPr sz="1725" b="0">
                <a:solidFill>
                  <a:srgbClr val="426351"/>
                </a:solidFill>
                <a:latin typeface="Arial"/>
                <a:ea typeface="Arial"/>
                <a:cs typeface="Arial"/>
              </a:rPr>
              <a:t>Cameras and RFID supply physical inputs. Bus movement, ramp and doors remain simulated.</a:t>
            </a:r>
          </a:p>
        </p:txBody>
      </p:sp>
    </p:spTree>
    <p:extLst>
      <p:ext uri="{BB962C8B-B14F-4D97-AF65-F5344CB8AC3E}">
        <p14:creationId xmlns:p14="http://schemas.microsoft.com/office/powerpoint/2010/main" val="1604973199"/>
      </p:ext>
    </p:extLst>
  </p:cSld>
</p:sld>
</file>

<file path=ppt/slides/slide4.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E59F9233-A8B7-4659-88AA-6451928BDD73}"/>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Boarding time follows activity</a:t>
            </a:r>
          </a:p>
        </p:txBody>
      </p:sp>
      <p:sp>
        <p:nvSpPr>
          <p:cNvPr id="2" name="04">
            <a:extLst xmlns:a="http://schemas.openxmlformats.org/drawingml/2006/main">
              <a:ext uri="{FF2B5EF4-FFF2-40B4-BE49-F238E27FC236}">
                <a16:creationId xmlns:a16="http://schemas.microsoft.com/office/drawing/2014/main" id="{24D6399A-B76A-484E-9B06-41AC7BB73D69}"/>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04</a:t>
            </a:r>
          </a:p>
        </p:txBody>
      </p:sp>
      <p:sp>
        <p:nvSpPr>
          <p:cNvPr id="3" name="15 seconds">
            <a:extLst xmlns:a="http://schemas.openxmlformats.org/drawingml/2006/main">
              <a:ext uri="{FF2B5EF4-FFF2-40B4-BE49-F238E27FC236}">
                <a16:creationId xmlns:a16="http://schemas.microsoft.com/office/drawing/2014/main" id="{D35054AF-796B-4670-B130-84E476CAA24E}"/>
              </a:ext>
            </a:extLst>
          </p:cNvPr>
          <p:cNvSpPr>
            <a:spLocks xmlns:a="http://schemas.openxmlformats.org/drawingml/2006/main" noGrp="1"/>
          </p:cNvSpPr>
          <p:nvPr/>
        </p:nvSpPr>
        <p:spPr>
          <a:xfrm xmlns:a="http://schemas.openxmlformats.org/drawingml/2006/main">
            <a:off x="685800" y="175260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15 seconds</a:t>
            </a:r>
          </a:p>
        </p:txBody>
      </p:sp>
      <p:sp>
        <p:nvSpPr>
          <p:cNvPr id="4" name="Initial quiet window after doors fully o">
            <a:extLst xmlns:a="http://schemas.openxmlformats.org/drawingml/2006/main">
              <a:ext uri="{FF2B5EF4-FFF2-40B4-BE49-F238E27FC236}">
                <a16:creationId xmlns:a16="http://schemas.microsoft.com/office/drawing/2014/main" id="{D3CCDB53-4F27-4D86-9972-B80C9304811A}"/>
              </a:ext>
            </a:extLst>
          </p:cNvPr>
          <p:cNvSpPr>
            <a:spLocks xmlns:a="http://schemas.openxmlformats.org/drawingml/2006/main" noGrp="1"/>
          </p:cNvSpPr>
          <p:nvPr/>
        </p:nvSpPr>
        <p:spPr>
          <a:xfrm xmlns:a="http://schemas.openxmlformats.org/drawingml/2006/main">
            <a:off x="4953000" y="1752600"/>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Initial quiet window after doors fully open.</a:t>
            </a:r>
          </a:p>
        </p:txBody>
      </p:sp>
      <p:sp>
        <p:nvSpPr>
          <p:cNvPr id="5" name="10 seconds per RFID tap">
            <a:extLst xmlns:a="http://schemas.openxmlformats.org/drawingml/2006/main">
              <a:ext uri="{FF2B5EF4-FFF2-40B4-BE49-F238E27FC236}">
                <a16:creationId xmlns:a16="http://schemas.microsoft.com/office/drawing/2014/main" id="{D611A712-AEE9-4331-A48B-616BE37C18D1}"/>
              </a:ext>
            </a:extLst>
          </p:cNvPr>
          <p:cNvSpPr>
            <a:spLocks xmlns:a="http://schemas.openxmlformats.org/drawingml/2006/main" noGrp="1"/>
          </p:cNvSpPr>
          <p:nvPr/>
        </p:nvSpPr>
        <p:spPr>
          <a:xfrm xmlns:a="http://schemas.openxmlformats.org/drawingml/2006/main">
            <a:off x="685800" y="27146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10 seconds per RFID tap</a:t>
            </a:r>
          </a:p>
        </p:txBody>
      </p:sp>
      <p:sp>
        <p:nvSpPr>
          <p:cNvPr id="6" name="Accepted taps protect time from that tap">
            <a:extLst xmlns:a="http://schemas.openxmlformats.org/drawingml/2006/main">
              <a:ext uri="{FF2B5EF4-FFF2-40B4-BE49-F238E27FC236}">
                <a16:creationId xmlns:a16="http://schemas.microsoft.com/office/drawing/2014/main" id="{EEF74CC7-EEDC-4D75-BBAA-25442F3FB8A7}"/>
              </a:ext>
            </a:extLst>
          </p:cNvPr>
          <p:cNvSpPr>
            <a:spLocks xmlns:a="http://schemas.openxmlformats.org/drawingml/2006/main" noGrp="1"/>
          </p:cNvSpPr>
          <p:nvPr/>
        </p:nvSpPr>
        <p:spPr>
          <a:xfrm xmlns:a="http://schemas.openxmlformats.org/drawingml/2006/main">
            <a:off x="4953000" y="2714625"/>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Accepted taps protect time from that tap.</a:t>
            </a:r>
          </a:p>
        </p:txBody>
      </p:sp>
      <p:sp>
        <p:nvSpPr>
          <p:cNvPr id="7" name="20 seconds for ramp access">
            <a:extLst xmlns:a="http://schemas.openxmlformats.org/drawingml/2006/main">
              <a:ext uri="{FF2B5EF4-FFF2-40B4-BE49-F238E27FC236}">
                <a16:creationId xmlns:a16="http://schemas.microsoft.com/office/drawing/2014/main" id="{4CDEEF62-4E6C-4332-B279-FBEF6D7A01DD}"/>
              </a:ext>
            </a:extLst>
          </p:cNvPr>
          <p:cNvSpPr>
            <a:spLocks xmlns:a="http://schemas.openxmlformats.org/drawingml/2006/main" noGrp="1"/>
          </p:cNvSpPr>
          <p:nvPr/>
        </p:nvSpPr>
        <p:spPr>
          <a:xfrm xmlns:a="http://schemas.openxmlformats.org/drawingml/2006/main">
            <a:off x="685800" y="369570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20 seconds for ramp access</a:t>
            </a:r>
          </a:p>
        </p:txBody>
      </p:sp>
      <p:sp>
        <p:nvSpPr>
          <p:cNvPr id="8" name="An accepted passenger request protects i">
            <a:extLst xmlns:a="http://schemas.openxmlformats.org/drawingml/2006/main">
              <a:ext uri="{FF2B5EF4-FFF2-40B4-BE49-F238E27FC236}">
                <a16:creationId xmlns:a16="http://schemas.microsoft.com/office/drawing/2014/main" id="{FACCA768-4953-4881-BE20-380D1F900AA2}"/>
              </a:ext>
            </a:extLst>
          </p:cNvPr>
          <p:cNvSpPr>
            <a:spLocks xmlns:a="http://schemas.openxmlformats.org/drawingml/2006/main" noGrp="1"/>
          </p:cNvSpPr>
          <p:nvPr/>
        </p:nvSpPr>
        <p:spPr>
          <a:xfrm xmlns:a="http://schemas.openxmlformats.org/drawingml/2006/main">
            <a:off x="4953000" y="3695700"/>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An accepted passenger request protects its full allowance.</a:t>
            </a:r>
          </a:p>
        </p:txBody>
      </p:sp>
      <p:sp>
        <p:nvSpPr>
          <p:cNvPr id="9" name="50-second admission cutoff">
            <a:extLst xmlns:a="http://schemas.openxmlformats.org/drawingml/2006/main">
              <a:ext uri="{FF2B5EF4-FFF2-40B4-BE49-F238E27FC236}">
                <a16:creationId xmlns:a16="http://schemas.microsoft.com/office/drawing/2014/main" id="{6C39F5B1-72A2-4971-ABC5-0BD5776671F5}"/>
              </a:ext>
            </a:extLst>
          </p:cNvPr>
          <p:cNvSpPr>
            <a:spLocks xmlns:a="http://schemas.openxmlformats.org/drawingml/2006/main" noGrp="1"/>
          </p:cNvSpPr>
          <p:nvPr/>
        </p:nvSpPr>
        <p:spPr>
          <a:xfrm xmlns:a="http://schemas.openxmlformats.org/drawingml/2006/main">
            <a:off x="685800" y="46958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50-second admission cutoff</a:t>
            </a:r>
          </a:p>
        </p:txBody>
      </p:sp>
      <p:sp>
        <p:nvSpPr>
          <p:cNvPr id="10" name="New requests and taps close. Earlier acc">
            <a:extLst xmlns:a="http://schemas.openxmlformats.org/drawingml/2006/main">
              <a:ext uri="{FF2B5EF4-FFF2-40B4-BE49-F238E27FC236}">
                <a16:creationId xmlns:a16="http://schemas.microsoft.com/office/drawing/2014/main" id="{C9A3A992-0C3E-43BD-A7BD-616241EE0919}"/>
              </a:ext>
            </a:extLst>
          </p:cNvPr>
          <p:cNvSpPr>
            <a:spLocks xmlns:a="http://schemas.openxmlformats.org/drawingml/2006/main" noGrp="1"/>
          </p:cNvSpPr>
          <p:nvPr/>
        </p:nvSpPr>
        <p:spPr>
          <a:xfrm xmlns:a="http://schemas.openxmlformats.org/drawingml/2006/main">
            <a:off x="4953000" y="4695825"/>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New requests and taps close. Earlier accepted allowances finish.</a:t>
            </a:r>
          </a:p>
        </p:txBody>
      </p:sp>
      <p:sp>
        <p:nvSpPr>
          <p:cNvPr id="11" name="Example: a tap accepted at 49 seconds ca">
            <a:extLst xmlns:a="http://schemas.openxmlformats.org/drawingml/2006/main">
              <a:ext uri="{FF2B5EF4-FFF2-40B4-BE49-F238E27FC236}">
                <a16:creationId xmlns:a16="http://schemas.microsoft.com/office/drawing/2014/main" id="{0F837DF2-4E71-4E9F-8B25-5437BFEA1199}"/>
              </a:ext>
            </a:extLst>
          </p:cNvPr>
          <p:cNvSpPr>
            <a:spLocks xmlns:a="http://schemas.openxmlformats.org/drawingml/2006/main" noGrp="1"/>
          </p:cNvSpPr>
          <p:nvPr/>
        </p:nvSpPr>
        <p:spPr>
          <a:xfrm xmlns:a="http://schemas.openxmlformats.org/drawingml/2006/main">
            <a:off x="714375" y="6029325"/>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3F30"/>
                </a:solidFill>
                <a:latin typeface="Arial"/>
                <a:ea typeface="Arial"/>
                <a:cs typeface="Arial"/>
              </a:defRPr>
            </a:pPr>
            <a:r>
              <a:rPr sz="1800" b="1">
                <a:solidFill>
                  <a:srgbClr val="103F30"/>
                </a:solidFill>
                <a:latin typeface="Arial"/>
                <a:ea typeface="Arial"/>
                <a:cs typeface="Arial"/>
              </a:rPr>
              <a:t>Example: a tap accepted at 49 seconds can finish at 59 seconds.</a:t>
            </a:r>
          </a:p>
        </p:txBody>
      </p:sp>
    </p:spTree>
    <p:extLst>
      <p:ext uri="{BB962C8B-B14F-4D97-AF65-F5344CB8AC3E}">
        <p14:creationId xmlns:p14="http://schemas.microsoft.com/office/powerpoint/2010/main" val="1705323498"/>
      </p:ext>
    </p:extLst>
  </p:cSld>
</p:sld>
</file>

<file path=ppt/slides/slide5.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9E911016-586D-45E5-8CB5-D655C9F7A934}"/>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Standing checks and passenger counts</a:t>
            </a:r>
          </a:p>
        </p:txBody>
      </p:sp>
      <p:sp>
        <p:nvSpPr>
          <p:cNvPr id="2" name="05">
            <a:extLst xmlns:a="http://schemas.openxmlformats.org/drawingml/2006/main">
              <a:ext uri="{FF2B5EF4-FFF2-40B4-BE49-F238E27FC236}">
                <a16:creationId xmlns:a16="http://schemas.microsoft.com/office/drawing/2014/main" id="{28B73CEB-81E0-4A3B-8CAB-44A8BA07F0C7}"/>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05</a:t>
            </a:r>
          </a:p>
        </p:txBody>
      </p:sp>
      <p:sp>
        <p:nvSpPr>
          <p:cNvPr id="3" name="5 seconds">
            <a:extLst xmlns:a="http://schemas.openxmlformats.org/drawingml/2006/main">
              <a:ext uri="{FF2B5EF4-FFF2-40B4-BE49-F238E27FC236}">
                <a16:creationId xmlns:a16="http://schemas.microsoft.com/office/drawing/2014/main" id="{5C903E02-BD13-4025-899E-F85B3D4EC602}"/>
              </a:ext>
            </a:extLst>
          </p:cNvPr>
          <p:cNvSpPr>
            <a:spLocks xmlns:a="http://schemas.openxmlformats.org/drawingml/2006/main" noGrp="1"/>
          </p:cNvSpPr>
          <p:nvPr/>
        </p:nvSpPr>
        <p:spPr>
          <a:xfrm xmlns:a="http://schemas.openxmlformats.org/drawingml/2006/main">
            <a:off x="704850" y="1695450"/>
            <a:ext cx="4476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103F30"/>
                </a:solidFill>
                <a:latin typeface="Arial"/>
                <a:ea typeface="Arial"/>
                <a:cs typeface="Arial"/>
              </a:defRPr>
            </a:pPr>
            <a:r>
              <a:rPr sz="5775" b="1">
                <a:solidFill>
                  <a:srgbClr val="103F30"/>
                </a:solidFill>
                <a:latin typeface="Arial"/>
                <a:ea typeface="Arial"/>
                <a:cs typeface="Arial"/>
              </a:rPr>
              <a:t>5 seconds</a:t>
            </a:r>
          </a:p>
        </p:txBody>
      </p:sp>
      <p:sp>
        <p:nvSpPr>
          <p:cNvPr id="4" name="Before departure">
            <a:extLst xmlns:a="http://schemas.openxmlformats.org/drawingml/2006/main">
              <a:ext uri="{FF2B5EF4-FFF2-40B4-BE49-F238E27FC236}">
                <a16:creationId xmlns:a16="http://schemas.microsoft.com/office/drawing/2014/main" id="{91AC4AF2-0EDD-448F-B8B8-3B1B1A373D6D}"/>
              </a:ext>
            </a:extLst>
          </p:cNvPr>
          <p:cNvSpPr>
            <a:spLocks xmlns:a="http://schemas.openxmlformats.org/drawingml/2006/main" noGrp="1"/>
          </p:cNvSpPr>
          <p:nvPr/>
        </p:nvSpPr>
        <p:spPr>
          <a:xfrm xmlns:a="http://schemas.openxmlformats.org/drawingml/2006/main">
            <a:off x="733425" y="2895600"/>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F30"/>
                </a:solidFill>
                <a:latin typeface="Arial"/>
                <a:ea typeface="Arial"/>
                <a:cs typeface="Arial"/>
              </a:defRPr>
            </a:pPr>
            <a:r>
              <a:rPr sz="2175" b="1">
                <a:solidFill>
                  <a:srgbClr val="103F30"/>
                </a:solidFill>
                <a:latin typeface="Arial"/>
                <a:ea typeface="Arial"/>
                <a:cs typeface="Arial"/>
              </a:rPr>
              <a:t>Before departure</a:t>
            </a:r>
          </a:p>
        </p:txBody>
      </p:sp>
      <p:sp>
        <p:nvSpPr>
          <p:cNvPr id="5" name="Doors closed. Fresh valid checks&#10;must re">
            <a:extLst xmlns:a="http://schemas.openxmlformats.org/drawingml/2006/main">
              <a:ext uri="{FF2B5EF4-FFF2-40B4-BE49-F238E27FC236}">
                <a16:creationId xmlns:a16="http://schemas.microsoft.com/office/drawing/2014/main" id="{4B4461F8-B2DE-4215-939A-FD6811B244BA}"/>
              </a:ext>
            </a:extLst>
          </p:cNvPr>
          <p:cNvSpPr>
            <a:spLocks xmlns:a="http://schemas.openxmlformats.org/drawingml/2006/main" noGrp="1"/>
          </p:cNvSpPr>
          <p:nvPr/>
        </p:nvSpPr>
        <p:spPr>
          <a:xfrm xmlns:a="http://schemas.openxmlformats.org/drawingml/2006/main">
            <a:off x="733425" y="3533775"/>
            <a:ext cx="4667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26351"/>
                </a:solidFill>
                <a:latin typeface="Arial"/>
                <a:ea typeface="Arial"/>
                <a:cs typeface="Arial"/>
              </a:defRPr>
            </a:pPr>
            <a:r>
              <a:rPr sz="2175" b="0">
                <a:solidFill>
                  <a:srgbClr val="426351"/>
                </a:solidFill>
                <a:latin typeface="Arial"/>
                <a:ea typeface="Arial"/>
                <a:cs typeface="Arial"/>
              </a:rPr>
              <a:t>Doors closed. Fresh valid checks</a:t>
            </a:r>
          </a:p>
          <a:p xmlns:a="http://schemas.openxmlformats.org/drawingml/2006/main">
            <a:pPr algn="l">
              <a:defRPr sz="2175" b="0">
                <a:solidFill>
                  <a:srgbClr val="426351"/>
                </a:solidFill>
                <a:latin typeface="Arial"/>
                <a:ea typeface="Arial"/>
                <a:cs typeface="Arial"/>
              </a:defRPr>
            </a:pPr>
            <a:r>
              <a:rPr sz="2175" b="0">
                <a:solidFill>
                  <a:srgbClr val="426351"/>
                </a:solidFill>
                <a:latin typeface="Arial"/>
                <a:ea typeface="Arial"/>
                <a:cs typeface="Arial"/>
              </a:rPr>
              <a:t>must report no standing person.</a:t>
            </a:r>
          </a:p>
          <a:p xmlns:a="http://schemas.openxmlformats.org/drawingml/2006/main">
            <a:pPr algn="l">
              <a:defRPr sz="2175" b="0">
                <a:solidFill>
                  <a:srgbClr val="426351"/>
                </a:solidFill>
                <a:latin typeface="Arial"/>
                <a:ea typeface="Arial"/>
                <a:cs typeface="Arial"/>
              </a:defRPr>
            </a:pPr>
            <a:r>
              <a:rPr sz="2175" b="0">
                <a:solidFill>
                  <a:srgbClr val="426351"/>
                </a:solidFill>
                <a:latin typeface="Arial"/>
                <a:ea typeface="Arial"/>
                <a:cs typeface="Arial"/>
              </a:rPr>
              <a:t>Standing or missing evidence</a:t>
            </a:r>
          </a:p>
          <a:p xmlns:a="http://schemas.openxmlformats.org/drawingml/2006/main">
            <a:pPr algn="l">
              <a:defRPr sz="2175" b="0">
                <a:solidFill>
                  <a:srgbClr val="426351"/>
                </a:solidFill>
                <a:latin typeface="Arial"/>
                <a:ea typeface="Arial"/>
                <a:cs typeface="Arial"/>
              </a:defRPr>
            </a:pPr>
            <a:r>
              <a:rPr sz="2175" b="0">
                <a:solidFill>
                  <a:srgbClr val="426351"/>
                </a:solidFill>
                <a:latin typeface="Arial"/>
                <a:ea typeface="Arial"/>
                <a:cs typeface="Arial"/>
              </a:rPr>
              <a:t>restarts confirmation.</a:t>
            </a:r>
          </a:p>
        </p:txBody>
      </p:sp>
      <p:sp>
        <p:nvSpPr>
          <p:cNvPr id="6" name="30 seconds">
            <a:extLst xmlns:a="http://schemas.openxmlformats.org/drawingml/2006/main">
              <a:ext uri="{FF2B5EF4-FFF2-40B4-BE49-F238E27FC236}">
                <a16:creationId xmlns:a16="http://schemas.microsoft.com/office/drawing/2014/main" id="{7720BEFF-6666-4565-BCD5-7B312F36C8AE}"/>
              </a:ext>
            </a:extLst>
          </p:cNvPr>
          <p:cNvSpPr>
            <a:spLocks xmlns:a="http://schemas.openxmlformats.org/drawingml/2006/main" noGrp="1"/>
          </p:cNvSpPr>
          <p:nvPr/>
        </p:nvSpPr>
        <p:spPr>
          <a:xfrm xmlns:a="http://schemas.openxmlformats.org/drawingml/2006/main">
            <a:off x="6562725" y="1695450"/>
            <a:ext cx="485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103F30"/>
                </a:solidFill>
                <a:latin typeface="Arial"/>
                <a:ea typeface="Arial"/>
                <a:cs typeface="Arial"/>
              </a:defRPr>
            </a:pPr>
            <a:r>
              <a:rPr sz="5775" b="1">
                <a:solidFill>
                  <a:srgbClr val="103F30"/>
                </a:solidFill>
                <a:latin typeface="Arial"/>
                <a:ea typeface="Arial"/>
                <a:cs typeface="Arial"/>
              </a:rPr>
              <a:t>30 seconds</a:t>
            </a:r>
          </a:p>
        </p:txBody>
      </p:sp>
      <p:sp>
        <p:nvSpPr>
          <p:cNvPr id="7" name="Cabin count cross-check">
            <a:extLst xmlns:a="http://schemas.openxmlformats.org/drawingml/2006/main">
              <a:ext uri="{FF2B5EF4-FFF2-40B4-BE49-F238E27FC236}">
                <a16:creationId xmlns:a16="http://schemas.microsoft.com/office/drawing/2014/main" id="{505094A1-0D14-492F-9E2D-27BBA8C6C922}"/>
              </a:ext>
            </a:extLst>
          </p:cNvPr>
          <p:cNvSpPr>
            <a:spLocks xmlns:a="http://schemas.openxmlformats.org/drawingml/2006/main" noGrp="1"/>
          </p:cNvSpPr>
          <p:nvPr/>
        </p:nvSpPr>
        <p:spPr>
          <a:xfrm xmlns:a="http://schemas.openxmlformats.org/drawingml/2006/main">
            <a:off x="6591300" y="28956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F30"/>
                </a:solidFill>
                <a:latin typeface="Arial"/>
                <a:ea typeface="Arial"/>
                <a:cs typeface="Arial"/>
              </a:defRPr>
            </a:pPr>
            <a:r>
              <a:rPr sz="2175" b="1">
                <a:solidFill>
                  <a:srgbClr val="103F30"/>
                </a:solidFill>
                <a:latin typeface="Arial"/>
                <a:ea typeface="Arial"/>
                <a:cs typeface="Arial"/>
              </a:rPr>
              <a:t>Cabin count cross-check</a:t>
            </a:r>
          </a:p>
        </p:txBody>
      </p:sp>
      <p:sp>
        <p:nvSpPr>
          <p:cNvPr id="8" name="RFID updates the count immediately.&#10;The ">
            <a:extLst xmlns:a="http://schemas.openxmlformats.org/drawingml/2006/main">
              <a:ext uri="{FF2B5EF4-FFF2-40B4-BE49-F238E27FC236}">
                <a16:creationId xmlns:a16="http://schemas.microsoft.com/office/drawing/2014/main" id="{EB5EE1A7-0D2D-44BA-8B35-A246531F69D4}"/>
              </a:ext>
            </a:extLst>
          </p:cNvPr>
          <p:cNvSpPr>
            <a:spLocks xmlns:a="http://schemas.openxmlformats.org/drawingml/2006/main" noGrp="1"/>
          </p:cNvSpPr>
          <p:nvPr/>
        </p:nvSpPr>
        <p:spPr>
          <a:xfrm xmlns:a="http://schemas.openxmlformats.org/drawingml/2006/main">
            <a:off x="6591300" y="3533775"/>
            <a:ext cx="49053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26351"/>
                </a:solidFill>
                <a:latin typeface="Arial"/>
                <a:ea typeface="Arial"/>
                <a:cs typeface="Arial"/>
              </a:defRPr>
            </a:pPr>
            <a:r>
              <a:rPr sz="2025" b="0">
                <a:solidFill>
                  <a:srgbClr val="426351"/>
                </a:solidFill>
                <a:latin typeface="Arial"/>
                <a:ea typeface="Arial"/>
                <a:cs typeface="Arial"/>
              </a:rPr>
              <a:t>RFID updates the count immediately.</a:t>
            </a:r>
          </a:p>
          <a:p xmlns:a="http://schemas.openxmlformats.org/drawingml/2006/main">
            <a:pPr algn="l">
              <a:defRPr sz="2025" b="0">
                <a:solidFill>
                  <a:srgbClr val="426351"/>
                </a:solidFill>
                <a:latin typeface="Arial"/>
                <a:ea typeface="Arial"/>
                <a:cs typeface="Arial"/>
              </a:defRPr>
            </a:pPr>
            <a:r>
              <a:rPr sz="2025" b="0">
                <a:solidFill>
                  <a:srgbClr val="426351"/>
                </a:solidFill>
                <a:latin typeface="Arial"/>
                <a:ea typeface="Arial"/>
                <a:cs typeface="Arial"/>
              </a:rPr>
              <a:t>The rounded mean of 30 one-second</a:t>
            </a:r>
          </a:p>
          <a:p xmlns:a="http://schemas.openxmlformats.org/drawingml/2006/main">
            <a:pPr algn="l">
              <a:defRPr sz="2025" b="0">
                <a:solidFill>
                  <a:srgbClr val="426351"/>
                </a:solidFill>
                <a:latin typeface="Arial"/>
                <a:ea typeface="Arial"/>
                <a:cs typeface="Arial"/>
              </a:defRPr>
            </a:pPr>
            <a:r>
              <a:rPr sz="2025" b="0">
                <a:solidFill>
                  <a:srgbClr val="426351"/>
                </a:solidFill>
                <a:latin typeface="Arial"/>
                <a:ea typeface="Arial"/>
                <a:cs typeface="Arial"/>
              </a:rPr>
              <a:t>camera samples corrects it.</a:t>
            </a:r>
          </a:p>
          <a:p xmlns:a="http://schemas.openxmlformats.org/drawingml/2006/main">
            <a:pPr algn="l">
              <a:defRPr sz="2025" b="0">
                <a:solidFill>
                  <a:srgbClr val="426351"/>
                </a:solidFill>
                <a:latin typeface="Arial"/>
                <a:ea typeface="Arial"/>
                <a:cs typeface="Arial"/>
              </a:defRPr>
            </a:pPr>
            <a:r>
              <a:rPr sz="2025" b="0">
                <a:solidFill>
                  <a:srgbClr val="426351"/>
                </a:solidFill>
                <a:latin typeface="Arial"/>
                <a:ea typeface="Arial"/>
                <a:cs typeface="Arial"/>
              </a:rPr>
              <a:t>Seat distribution remains estimated.</a:t>
            </a:r>
          </a:p>
        </p:txBody>
      </p:sp>
      <p:sp>
        <p:nvSpPr>
          <p:cNvPr id="9" name="Inside counting stays active. Outside de">
            <a:extLst xmlns:a="http://schemas.openxmlformats.org/drawingml/2006/main">
              <a:ext uri="{FF2B5EF4-FFF2-40B4-BE49-F238E27FC236}">
                <a16:creationId xmlns:a16="http://schemas.microsoft.com/office/drawing/2014/main" id="{836B85D3-E992-4575-B90A-D8708CFA63BC}"/>
              </a:ext>
            </a:extLst>
          </p:cNvPr>
          <p:cNvSpPr>
            <a:spLocks xmlns:a="http://schemas.openxmlformats.org/drawingml/2006/main" noGrp="1"/>
          </p:cNvSpPr>
          <p:nvPr/>
        </p:nvSpPr>
        <p:spPr>
          <a:xfrm xmlns:a="http://schemas.openxmlformats.org/drawingml/2006/main">
            <a:off x="733425" y="5915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3F30"/>
                </a:solidFill>
                <a:latin typeface="Arial"/>
                <a:ea typeface="Arial"/>
                <a:cs typeface="Arial"/>
              </a:defRPr>
            </a:pPr>
            <a:r>
              <a:rPr sz="1800" b="1">
                <a:solidFill>
                  <a:srgbClr val="103F30"/>
                </a:solidFill>
                <a:latin typeface="Arial"/>
                <a:ea typeface="Arial"/>
                <a:cs typeface="Arial"/>
              </a:rPr>
              <a:t>Inside counting stays active. Outside detection runs only with doors fully open.</a:t>
            </a:r>
          </a:p>
        </p:txBody>
      </p:sp>
    </p:spTree>
    <p:extLst>
      <p:ext uri="{BB962C8B-B14F-4D97-AF65-F5344CB8AC3E}">
        <p14:creationId xmlns:p14="http://schemas.microsoft.com/office/powerpoint/2010/main" val="1450369496"/>
      </p:ext>
    </p:extLst>
  </p:cSld>
</p:sld>
</file>

<file path=ppt/slides/slide6.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3590937D-1AF9-4D41-A070-E5C0054C6A35}"/>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A passenger chooses one request</a:t>
            </a:r>
          </a:p>
        </p:txBody>
      </p:sp>
      <p:sp>
        <p:nvSpPr>
          <p:cNvPr id="2" name="06">
            <a:extLst xmlns:a="http://schemas.openxmlformats.org/drawingml/2006/main">
              <a:ext uri="{FF2B5EF4-FFF2-40B4-BE49-F238E27FC236}">
                <a16:creationId xmlns:a16="http://schemas.microsoft.com/office/drawing/2014/main" id="{F01C9DCB-D4F6-4ECD-8923-B3CC7345F52E}"/>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06</a:t>
            </a:r>
          </a:p>
        </p:txBody>
      </p:sp>
      <p:sp>
        <p:nvSpPr>
          <p:cNvPr id="3" name="Ramp access, more time, priority seating">
            <a:extLst xmlns:a="http://schemas.openxmlformats.org/drawingml/2006/main">
              <a:ext uri="{FF2B5EF4-FFF2-40B4-BE49-F238E27FC236}">
                <a16:creationId xmlns:a16="http://schemas.microsoft.com/office/drawing/2014/main" id="{927CCCD8-1899-466A-8D7A-D460F2B1E87F}"/>
              </a:ext>
            </a:extLst>
          </p:cNvPr>
          <p:cNvSpPr>
            <a:spLocks xmlns:a="http://schemas.openxmlformats.org/drawingml/2006/main" noGrp="1"/>
          </p:cNvSpPr>
          <p:nvPr/>
        </p:nvSpPr>
        <p:spPr>
          <a:xfrm xmlns:a="http://schemas.openxmlformats.org/drawingml/2006/main">
            <a:off x="704850" y="1714500"/>
            <a:ext cx="552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Ramp access, more time, priority seating,</a:t>
            </a:r>
          </a:p>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spoken guidance or visual guidance.</a:t>
            </a:r>
          </a:p>
        </p:txBody>
      </p:sp>
      <p:sp>
        <p:nvSpPr>
          <p:cNvPr id="4" name="A shared countdown explains the accepted">
            <a:extLst xmlns:a="http://schemas.openxmlformats.org/drawingml/2006/main">
              <a:ext uri="{FF2B5EF4-FFF2-40B4-BE49-F238E27FC236}">
                <a16:creationId xmlns:a16="http://schemas.microsoft.com/office/drawing/2014/main" id="{BA34FF42-15C2-444C-826E-43A7813FDB75}"/>
              </a:ext>
            </a:extLst>
          </p:cNvPr>
          <p:cNvSpPr>
            <a:spLocks xmlns:a="http://schemas.openxmlformats.org/drawingml/2006/main" noGrp="1"/>
          </p:cNvSpPr>
          <p:nvPr/>
        </p:nvSpPr>
        <p:spPr>
          <a:xfrm xmlns:a="http://schemas.openxmlformats.org/drawingml/2006/main">
            <a:off x="733425" y="3209925"/>
            <a:ext cx="5524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26351"/>
                </a:solidFill>
                <a:latin typeface="Arial"/>
                <a:ea typeface="Arial"/>
                <a:cs typeface="Arial"/>
              </a:defRPr>
            </a:pPr>
            <a:r>
              <a:rPr sz="2175" b="0">
                <a:solidFill>
                  <a:srgbClr val="426351"/>
                </a:solidFill>
                <a:latin typeface="Arial"/>
                <a:ea typeface="Arial"/>
                <a:cs typeface="Arial"/>
              </a:rPr>
              <a:t>A shared countdown explains the accepted allowance.</a:t>
            </a:r>
          </a:p>
        </p:txBody>
      </p:sp>
      <p:sp>
        <p:nvSpPr>
          <p:cNvPr id="5" name="“Hey BusGuard” activates brief voice hel">
            <a:extLst xmlns:a="http://schemas.openxmlformats.org/drawingml/2006/main">
              <a:ext uri="{FF2B5EF4-FFF2-40B4-BE49-F238E27FC236}">
                <a16:creationId xmlns:a16="http://schemas.microsoft.com/office/drawing/2014/main" id="{6A67C5C5-F556-40EF-9A3C-A0F92440F654}"/>
              </a:ext>
            </a:extLst>
          </p:cNvPr>
          <p:cNvSpPr>
            <a:spLocks xmlns:a="http://schemas.openxmlformats.org/drawingml/2006/main" noGrp="1"/>
          </p:cNvSpPr>
          <p:nvPr/>
        </p:nvSpPr>
        <p:spPr>
          <a:xfrm xmlns:a="http://schemas.openxmlformats.org/drawingml/2006/main">
            <a:off x="733425" y="4276725"/>
            <a:ext cx="5524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“Hey BusGuard” activates brief voice help.</a:t>
            </a:r>
          </a:p>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The reply finishes before listening resumes.</a:t>
            </a:r>
          </a:p>
        </p:txBody>
      </p:sp>
      <p:sp>
        <p:nvSpPr>
          <p:cNvPr id="6" name="Arrival alerts offer visible messages, o">
            <a:extLst xmlns:a="http://schemas.openxmlformats.org/drawingml/2006/main">
              <a:ext uri="{FF2B5EF4-FFF2-40B4-BE49-F238E27FC236}">
                <a16:creationId xmlns:a16="http://schemas.microsoft.com/office/drawing/2014/main" id="{234EA52D-DB68-49AF-84B0-3062ECD0BDB4}"/>
              </a:ext>
            </a:extLst>
          </p:cNvPr>
          <p:cNvSpPr>
            <a:spLocks xmlns:a="http://schemas.openxmlformats.org/drawingml/2006/main" noGrp="1"/>
          </p:cNvSpPr>
          <p:nvPr/>
        </p:nvSpPr>
        <p:spPr>
          <a:xfrm xmlns:a="http://schemas.openxmlformats.org/drawingml/2006/main">
            <a:off x="733425" y="5448300"/>
            <a:ext cx="5524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26351"/>
                </a:solidFill>
                <a:latin typeface="Arial"/>
                <a:ea typeface="Arial"/>
                <a:cs typeface="Arial"/>
              </a:defRPr>
            </a:pPr>
            <a:r>
              <a:rPr sz="1875" b="0">
                <a:solidFill>
                  <a:srgbClr val="426351"/>
                </a:solidFill>
                <a:latin typeface="Arial"/>
                <a:ea typeface="Arial"/>
                <a:cs typeface="Arial"/>
              </a:rPr>
              <a:t>Arrival alerts offer visible messages, optional speech and supported vibration.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56366abb724911"/>
          <a:stretch xmlns:a="http://schemas.openxmlformats.org/drawingml/2006/main"/>
        </p:blipFill>
        <p:spPr>
          <a:xfrm xmlns:a="http://schemas.openxmlformats.org/drawingml/2006/main">
            <a:off x="6743700" y="2424466"/>
            <a:ext cx="4838700" cy="2723442"/>
          </a:xfrm>
          <a:prstGeom xmlns:a="http://schemas.openxmlformats.org/drawingml/2006/main" prst="rect">
            <a:avLst/>
          </a:prstGeom>
        </p:spPr>
      </p:pic>
      <p:sp>
        <p:nvSpPr>
          <p:cNvPr id="8" name="Passenger app software preview">
            <a:extLst xmlns:a="http://schemas.openxmlformats.org/drawingml/2006/main">
              <a:ext uri="{FF2B5EF4-FFF2-40B4-BE49-F238E27FC236}">
                <a16:creationId xmlns:a16="http://schemas.microsoft.com/office/drawing/2014/main" id="{165EFE21-36FC-4A42-9EDF-7269BF7D990C}"/>
              </a:ext>
            </a:extLst>
          </p:cNvPr>
          <p:cNvSpPr>
            <a:spLocks xmlns:a="http://schemas.openxmlformats.org/drawingml/2006/main" noGrp="1"/>
          </p:cNvSpPr>
          <p:nvPr/>
        </p:nvSpPr>
        <p:spPr>
          <a:xfrm xmlns:a="http://schemas.openxmlformats.org/drawingml/2006/main">
            <a:off x="6772275" y="5715000"/>
            <a:ext cx="471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26351"/>
                </a:solidFill>
                <a:latin typeface="Arial"/>
                <a:ea typeface="Arial"/>
                <a:cs typeface="Arial"/>
              </a:defRPr>
            </a:pPr>
            <a:r>
              <a:rPr sz="1500" b="0">
                <a:solidFill>
                  <a:srgbClr val="426351"/>
                </a:solidFill>
                <a:latin typeface="Arial"/>
                <a:ea typeface="Arial"/>
                <a:cs typeface="Arial"/>
              </a:rPr>
              <a:t>Passenger app software preview</a:t>
            </a:r>
          </a:p>
        </p:txBody>
      </p:sp>
    </p:spTree>
    <p:extLst>
      <p:ext uri="{BB962C8B-B14F-4D97-AF65-F5344CB8AC3E}">
        <p14:creationId xmlns:p14="http://schemas.microsoft.com/office/powerpoint/2010/main" val="1627141029"/>
      </p:ext>
    </p:extLst>
  </p:cSld>
</p:sld>
</file>

<file path=ppt/slides/slide7.xml><?xml version="1.0" encoding="utf-8"?>
<p:sld xmlns:p="http://schemas.openxmlformats.org/presentationml/2006/main">
  <p:cSld>
    <p:bg>
      <p:bgPr>
        <a:solidFill xmlns:a="http://schemas.openxmlformats.org/drawingml/2006/main">
          <a:srgbClr val="E8F2E4"/>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3C1022AF-1112-437F-A6B6-F6F6947C75D4}"/>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03F30"/>
                </a:solidFill>
                <a:latin typeface="Arial"/>
                <a:ea typeface="Arial"/>
                <a:cs typeface="Arial"/>
              </a:defRPr>
            </a:pPr>
            <a:r>
              <a:rPr sz="3600" b="1">
                <a:solidFill>
                  <a:srgbClr val="103F30"/>
                </a:solidFill>
                <a:latin typeface="Arial"/>
                <a:ea typeface="Arial"/>
                <a:cs typeface="Arial"/>
              </a:rPr>
              <a:t>Engineering contribution</a:t>
            </a:r>
          </a:p>
        </p:txBody>
      </p:sp>
      <p:sp>
        <p:nvSpPr>
          <p:cNvPr id="2" name="07">
            <a:extLst xmlns:a="http://schemas.openxmlformats.org/drawingml/2006/main">
              <a:ext uri="{FF2B5EF4-FFF2-40B4-BE49-F238E27FC236}">
                <a16:creationId xmlns:a16="http://schemas.microsoft.com/office/drawing/2014/main" id="{7EEEE07D-0121-4C1C-A74E-439F475BCF6B}"/>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26351"/>
                </a:solidFill>
                <a:latin typeface="Arial"/>
                <a:ea typeface="Arial"/>
                <a:cs typeface="Arial"/>
              </a:defRPr>
            </a:pPr>
            <a:r>
              <a:rPr sz="1350" b="0">
                <a:solidFill>
                  <a:srgbClr val="426351"/>
                </a:solidFill>
                <a:latin typeface="Arial"/>
                <a:ea typeface="Arial"/>
                <a:cs typeface="Arial"/>
              </a:rPr>
              <a:t>07</a:t>
            </a:r>
          </a:p>
        </p:txBody>
      </p:sp>
      <p:sp>
        <p:nvSpPr>
          <p:cNvPr id="3" name="One authoritative state">
            <a:extLst xmlns:a="http://schemas.openxmlformats.org/drawingml/2006/main">
              <a:ext uri="{FF2B5EF4-FFF2-40B4-BE49-F238E27FC236}">
                <a16:creationId xmlns:a16="http://schemas.microsoft.com/office/drawing/2014/main" id="{1C7A1321-95FF-46DA-93F2-66DB6A2047C2}"/>
              </a:ext>
            </a:extLst>
          </p:cNvPr>
          <p:cNvSpPr>
            <a:spLocks xmlns:a="http://schemas.openxmlformats.org/drawingml/2006/main" noGrp="1"/>
          </p:cNvSpPr>
          <p:nvPr/>
        </p:nvSpPr>
        <p:spPr>
          <a:xfrm xmlns:a="http://schemas.openxmlformats.org/drawingml/2006/main">
            <a:off x="685800" y="17621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One authoritative state</a:t>
            </a:r>
          </a:p>
        </p:txBody>
      </p:sp>
      <p:sp>
        <p:nvSpPr>
          <p:cNvPr id="4" name="The phone, console and bus display share">
            <a:extLst xmlns:a="http://schemas.openxmlformats.org/drawingml/2006/main">
              <a:ext uri="{FF2B5EF4-FFF2-40B4-BE49-F238E27FC236}">
                <a16:creationId xmlns:a16="http://schemas.microsoft.com/office/drawing/2014/main" id="{1907A4D1-5EA7-4BC4-93A2-F5479DB282D7}"/>
              </a:ext>
            </a:extLst>
          </p:cNvPr>
          <p:cNvSpPr>
            <a:spLocks xmlns:a="http://schemas.openxmlformats.org/drawingml/2006/main" noGrp="1"/>
          </p:cNvSpPr>
          <p:nvPr/>
        </p:nvSpPr>
        <p:spPr>
          <a:xfrm xmlns:a="http://schemas.openxmlformats.org/drawingml/2006/main">
            <a:off x="4953000" y="1762125"/>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The phone, console and bus display share the same decision.</a:t>
            </a:r>
          </a:p>
        </p:txBody>
      </p:sp>
      <p:sp>
        <p:nvSpPr>
          <p:cNvPr id="5" name="Controlled event handling">
            <a:extLst xmlns:a="http://schemas.openxmlformats.org/drawingml/2006/main">
              <a:ext uri="{FF2B5EF4-FFF2-40B4-BE49-F238E27FC236}">
                <a16:creationId xmlns:a16="http://schemas.microsoft.com/office/drawing/2014/main" id="{3F8B0425-9ED1-449A-9E35-3E3BF5E10895}"/>
              </a:ext>
            </a:extLst>
          </p:cNvPr>
          <p:cNvSpPr>
            <a:spLocks xmlns:a="http://schemas.openxmlformats.org/drawingml/2006/main" noGrp="1"/>
          </p:cNvSpPr>
          <p:nvPr/>
        </p:nvSpPr>
        <p:spPr>
          <a:xfrm xmlns:a="http://schemas.openxmlformats.org/drawingml/2006/main">
            <a:off x="685800" y="29527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Controlled event handling</a:t>
            </a:r>
          </a:p>
        </p:txBody>
      </p:sp>
      <p:sp>
        <p:nvSpPr>
          <p:cNvPr id="6" name="Fresh camera evidence, repeat-safe RFID ">
            <a:extLst xmlns:a="http://schemas.openxmlformats.org/drawingml/2006/main">
              <a:ext uri="{FF2B5EF4-FFF2-40B4-BE49-F238E27FC236}">
                <a16:creationId xmlns:a16="http://schemas.microsoft.com/office/drawing/2014/main" id="{4D161DCB-80B5-4BCF-8C95-58ABF353B8BB}"/>
              </a:ext>
            </a:extLst>
          </p:cNvPr>
          <p:cNvSpPr>
            <a:spLocks xmlns:a="http://schemas.openxmlformats.org/drawingml/2006/main" noGrp="1"/>
          </p:cNvSpPr>
          <p:nvPr/>
        </p:nvSpPr>
        <p:spPr>
          <a:xfrm xmlns:a="http://schemas.openxmlformats.org/drawingml/2006/main">
            <a:off x="4953000" y="2952750"/>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Fresh camera evidence, repeat-safe RFID taps and bounded request allowances.</a:t>
            </a:r>
          </a:p>
        </p:txBody>
      </p:sp>
      <p:sp>
        <p:nvSpPr>
          <p:cNvPr id="7" name="Visible reasons for holds">
            <a:extLst xmlns:a="http://schemas.openxmlformats.org/drawingml/2006/main">
              <a:ext uri="{FF2B5EF4-FFF2-40B4-BE49-F238E27FC236}">
                <a16:creationId xmlns:a16="http://schemas.microsoft.com/office/drawing/2014/main" id="{500AB354-5493-4CF1-93CD-8A7EA62AE04E}"/>
              </a:ext>
            </a:extLst>
          </p:cNvPr>
          <p:cNvSpPr>
            <a:spLocks xmlns:a="http://schemas.openxmlformats.org/drawingml/2006/main" noGrp="1"/>
          </p:cNvSpPr>
          <p:nvPr/>
        </p:nvSpPr>
        <p:spPr>
          <a:xfrm xmlns:a="http://schemas.openxmlformats.org/drawingml/2006/main">
            <a:off x="685800" y="41814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F30"/>
                </a:solidFill>
                <a:latin typeface="Arial"/>
                <a:ea typeface="Arial"/>
                <a:cs typeface="Arial"/>
              </a:defRPr>
            </a:pPr>
            <a:r>
              <a:rPr sz="2325" b="1">
                <a:solidFill>
                  <a:srgbClr val="103F30"/>
                </a:solidFill>
                <a:latin typeface="Arial"/>
                <a:ea typeface="Arial"/>
                <a:cs typeface="Arial"/>
              </a:rPr>
              <a:t>Visible reasons for holds</a:t>
            </a:r>
          </a:p>
        </p:txBody>
      </p:sp>
      <p:sp>
        <p:nvSpPr>
          <p:cNvPr id="8" name="Standing, missing input and access condi">
            <a:extLst xmlns:a="http://schemas.openxmlformats.org/drawingml/2006/main">
              <a:ext uri="{FF2B5EF4-FFF2-40B4-BE49-F238E27FC236}">
                <a16:creationId xmlns:a16="http://schemas.microsoft.com/office/drawing/2014/main" id="{6331B7D2-C3DD-40A6-BCAF-CE3CA283CB30}"/>
              </a:ext>
            </a:extLst>
          </p:cNvPr>
          <p:cNvSpPr>
            <a:spLocks xmlns:a="http://schemas.openxmlformats.org/drawingml/2006/main" noGrp="1"/>
          </p:cNvSpPr>
          <p:nvPr/>
        </p:nvSpPr>
        <p:spPr>
          <a:xfrm xmlns:a="http://schemas.openxmlformats.org/drawingml/2006/main">
            <a:off x="4953000" y="4181475"/>
            <a:ext cx="638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26351"/>
                </a:solidFill>
                <a:latin typeface="Arial"/>
                <a:ea typeface="Arial"/>
                <a:cs typeface="Arial"/>
              </a:defRPr>
            </a:pPr>
            <a:r>
              <a:rPr sz="2100" b="0">
                <a:solidFill>
                  <a:srgbClr val="426351"/>
                </a:solidFill>
                <a:latin typeface="Arial"/>
                <a:ea typeface="Arial"/>
                <a:cs typeface="Arial"/>
              </a:rPr>
              <a:t>Standing, missing input and access conditions remain distinct.</a:t>
            </a:r>
          </a:p>
        </p:txBody>
      </p:sp>
      <p:sp>
        <p:nvSpPr>
          <p:cNvPr id="9" name="YOLOE and OpenAI supply model capabiliti">
            <a:extLst xmlns:a="http://schemas.openxmlformats.org/drawingml/2006/main">
              <a:ext uri="{FF2B5EF4-FFF2-40B4-BE49-F238E27FC236}">
                <a16:creationId xmlns:a16="http://schemas.microsoft.com/office/drawing/2014/main" id="{D891DA74-2AA4-4B96-BF42-1AA43C71D53C}"/>
              </a:ext>
            </a:extLst>
          </p:cNvPr>
          <p:cNvSpPr>
            <a:spLocks xmlns:a="http://schemas.openxmlformats.org/drawingml/2006/main" noGrp="1"/>
          </p:cNvSpPr>
          <p:nvPr/>
        </p:nvSpPr>
        <p:spPr>
          <a:xfrm xmlns:a="http://schemas.openxmlformats.org/drawingml/2006/main">
            <a:off x="723900" y="5819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26351"/>
                </a:solidFill>
                <a:latin typeface="Arial"/>
                <a:ea typeface="Arial"/>
                <a:cs typeface="Arial"/>
              </a:defRPr>
            </a:pPr>
            <a:r>
              <a:rPr sz="1800" b="0">
                <a:solidFill>
                  <a:srgbClr val="426351"/>
                </a:solidFill>
                <a:latin typeface="Arial"/>
                <a:ea typeface="Arial"/>
                <a:cs typeface="Arial"/>
              </a:rPr>
              <a:t>YOLOE and OpenAI supply model capabilities. The project integrates the assistance workflow.</a:t>
            </a:r>
          </a:p>
        </p:txBody>
      </p:sp>
    </p:spTree>
    <p:extLst>
      <p:ext uri="{BB962C8B-B14F-4D97-AF65-F5344CB8AC3E}">
        <p14:creationId xmlns:p14="http://schemas.microsoft.com/office/powerpoint/2010/main" val="1237385982"/>
      </p:ext>
    </p:extLst>
  </p:cSld>
</p:sld>
</file>

<file path=ppt/slides/slide8.xml><?xml version="1.0" encoding="utf-8"?>
<p:sld xmlns:p="http://schemas.openxmlformats.org/presentationml/2006/main">
  <p:cSld>
    <p:bg>
      <p:bgPr>
        <a:solidFill xmlns:a="http://schemas.openxmlformats.org/drawingml/2006/main">
          <a:srgbClr val="0E3528"/>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1B9314E8-E79B-4288-AC86-7076A22921C9}"/>
              </a:ext>
            </a:extLst>
          </p:cNvPr>
          <p:cNvSpPr>
            <a:spLocks xmlns:a="http://schemas.openxmlformats.org/drawingml/2006/main" noGrp="1"/>
          </p:cNvSpPr>
          <p:nvPr/>
        </p:nvSpPr>
        <p:spPr>
          <a:xfrm xmlns:a="http://schemas.openxmlformats.org/drawingml/2006/main">
            <a:off x="685800" y="5143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AEF"/>
                </a:solidFill>
                <a:latin typeface="Arial"/>
                <a:ea typeface="Arial"/>
                <a:cs typeface="Arial"/>
              </a:defRPr>
            </a:pPr>
            <a:r>
              <a:rPr sz="3600" b="1">
                <a:solidFill>
                  <a:srgbClr val="F4FAEF"/>
                </a:solidFill>
                <a:latin typeface="Arial"/>
                <a:ea typeface="Arial"/>
                <a:cs typeface="Arial"/>
              </a:rPr>
              <a:t>Evidence and next validation</a:t>
            </a:r>
          </a:p>
        </p:txBody>
      </p:sp>
      <p:sp>
        <p:nvSpPr>
          <p:cNvPr id="2" name="08">
            <a:extLst xmlns:a="http://schemas.openxmlformats.org/drawingml/2006/main">
              <a:ext uri="{FF2B5EF4-FFF2-40B4-BE49-F238E27FC236}">
                <a16:creationId xmlns:a16="http://schemas.microsoft.com/office/drawing/2014/main" id="{CCA558CA-1B61-4857-9422-99A2A6FF7063}"/>
              </a:ext>
            </a:extLst>
          </p:cNvPr>
          <p:cNvSpPr>
            <a:spLocks xmlns:a="http://schemas.openxmlformats.org/drawingml/2006/main" noGrp="1"/>
          </p:cNvSpPr>
          <p:nvPr/>
        </p:nvSpPr>
        <p:spPr>
          <a:xfrm xmlns:a="http://schemas.openxmlformats.org/drawingml/2006/main">
            <a:off x="11239500" y="642937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8DFC1"/>
                </a:solidFill>
                <a:latin typeface="Arial"/>
                <a:ea typeface="Arial"/>
                <a:cs typeface="Arial"/>
              </a:defRPr>
            </a:pPr>
            <a:r>
              <a:rPr sz="1350" b="0">
                <a:solidFill>
                  <a:srgbClr val="C8DFC1"/>
                </a:solidFill>
                <a:latin typeface="Arial"/>
                <a:ea typeface="Arial"/>
                <a:cs typeface="Arial"/>
              </a:rPr>
              <a:t>08</a:t>
            </a:r>
          </a:p>
        </p:txBody>
      </p:sp>
      <p:sp>
        <p:nvSpPr>
          <p:cNvPr id="3" name="Implemented software">
            <a:extLst xmlns:a="http://schemas.openxmlformats.org/drawingml/2006/main">
              <a:ext uri="{FF2B5EF4-FFF2-40B4-BE49-F238E27FC236}">
                <a16:creationId xmlns:a16="http://schemas.microsoft.com/office/drawing/2014/main" id="{A5A9B9EA-04A7-4519-BDB8-A5E898A31250}"/>
              </a:ext>
            </a:extLst>
          </p:cNvPr>
          <p:cNvSpPr>
            <a:spLocks xmlns:a="http://schemas.openxmlformats.org/drawingml/2006/main" noGrp="1"/>
          </p:cNvSpPr>
          <p:nvPr/>
        </p:nvSpPr>
        <p:spPr>
          <a:xfrm xmlns:a="http://schemas.openxmlformats.org/drawingml/2006/main">
            <a:off x="704850" y="1800225"/>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FAEF"/>
                </a:solidFill>
                <a:latin typeface="Arial"/>
                <a:ea typeface="Arial"/>
                <a:cs typeface="Arial"/>
              </a:defRPr>
            </a:pPr>
            <a:r>
              <a:rPr sz="2325" b="1">
                <a:solidFill>
                  <a:srgbClr val="F4FAEF"/>
                </a:solidFill>
                <a:latin typeface="Arial"/>
                <a:ea typeface="Arial"/>
                <a:cs typeface="Arial"/>
              </a:rPr>
              <a:t>Implemented software</a:t>
            </a:r>
          </a:p>
        </p:txBody>
      </p:sp>
      <p:sp>
        <p:nvSpPr>
          <p:cNvPr id="4" name="Shared controller and three websites&#10;Tim">
            <a:extLst xmlns:a="http://schemas.openxmlformats.org/drawingml/2006/main">
              <a:ext uri="{FF2B5EF4-FFF2-40B4-BE49-F238E27FC236}">
                <a16:creationId xmlns:a16="http://schemas.microsoft.com/office/drawing/2014/main" id="{300834D8-0933-462C-A38E-AA3CD54B8020}"/>
              </a:ext>
            </a:extLst>
          </p:cNvPr>
          <p:cNvSpPr>
            <a:spLocks xmlns:a="http://schemas.openxmlformats.org/drawingml/2006/main" noGrp="1"/>
          </p:cNvSpPr>
          <p:nvPr/>
        </p:nvSpPr>
        <p:spPr>
          <a:xfrm xmlns:a="http://schemas.openxmlformats.org/drawingml/2006/main">
            <a:off x="733425" y="2486025"/>
            <a:ext cx="49911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C8DFC1"/>
                </a:solidFill>
                <a:latin typeface="Arial"/>
                <a:ea typeface="Arial"/>
                <a:cs typeface="Arial"/>
              </a:defRPr>
            </a:pPr>
            <a:r>
              <a:rPr sz="2175" b="0">
                <a:solidFill>
                  <a:srgbClr val="C8DFC1"/>
                </a:solidFill>
                <a:latin typeface="Arial"/>
                <a:ea typeface="Arial"/>
                <a:cs typeface="Arial"/>
              </a:rPr>
              <a:t>Shared controller and three websites</a:t>
            </a:r>
          </a:p>
          <a:p xmlns:a="http://schemas.openxmlformats.org/drawingml/2006/main">
            <a:pPr algn="l">
              <a:defRPr sz="2175" b="0">
                <a:solidFill>
                  <a:srgbClr val="C8DFC1"/>
                </a:solidFill>
                <a:latin typeface="Arial"/>
                <a:ea typeface="Arial"/>
                <a:cs typeface="Arial"/>
              </a:defRPr>
            </a:pPr>
            <a:r>
              <a:rPr sz="2175" b="0">
                <a:solidFill>
                  <a:srgbClr val="C8DFC1"/>
                </a:solidFill>
                <a:latin typeface="Arial"/>
                <a:ea typeface="Arial"/>
                <a:cs typeface="Arial"/>
              </a:rPr>
              <a:t>Timing, ownership and retry checks</a:t>
            </a:r>
          </a:p>
          <a:p xmlns:a="http://schemas.openxmlformats.org/drawingml/2006/main">
            <a:pPr algn="l">
              <a:defRPr sz="2175" b="0">
                <a:solidFill>
                  <a:srgbClr val="C8DFC1"/>
                </a:solidFill>
                <a:latin typeface="Arial"/>
                <a:ea typeface="Arial"/>
                <a:cs typeface="Arial"/>
              </a:defRPr>
            </a:pPr>
            <a:r>
              <a:rPr sz="2175" b="0">
                <a:solidFill>
                  <a:srgbClr val="C8DFC1"/>
                </a:solidFill>
                <a:latin typeface="Arial"/>
                <a:ea typeface="Arial"/>
                <a:cs typeface="Arial"/>
              </a:rPr>
              <a:t>Camera and RFID integration paths</a:t>
            </a:r>
          </a:p>
        </p:txBody>
      </p:sp>
      <p:sp>
        <p:nvSpPr>
          <p:cNvPr id="5" name="Next evaluation">
            <a:extLst xmlns:a="http://schemas.openxmlformats.org/drawingml/2006/main">
              <a:ext uri="{FF2B5EF4-FFF2-40B4-BE49-F238E27FC236}">
                <a16:creationId xmlns:a16="http://schemas.microsoft.com/office/drawing/2014/main" id="{67E28B0A-0283-4BC4-A7EA-657A93DF9E3C}"/>
              </a:ext>
            </a:extLst>
          </p:cNvPr>
          <p:cNvSpPr>
            <a:spLocks xmlns:a="http://schemas.openxmlformats.org/drawingml/2006/main" noGrp="1"/>
          </p:cNvSpPr>
          <p:nvPr/>
        </p:nvSpPr>
        <p:spPr>
          <a:xfrm xmlns:a="http://schemas.openxmlformats.org/drawingml/2006/main">
            <a:off x="6696075" y="1800225"/>
            <a:ext cx="4705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4FAEF"/>
                </a:solidFill>
                <a:latin typeface="Arial"/>
                <a:ea typeface="Arial"/>
                <a:cs typeface="Arial"/>
              </a:defRPr>
            </a:pPr>
            <a:r>
              <a:rPr sz="2325" b="1">
                <a:solidFill>
                  <a:srgbClr val="F4FAEF"/>
                </a:solidFill>
                <a:latin typeface="Arial"/>
                <a:ea typeface="Arial"/>
                <a:cs typeface="Arial"/>
              </a:rPr>
              <a:t>Next evaluation</a:t>
            </a:r>
          </a:p>
        </p:txBody>
      </p:sp>
      <p:sp>
        <p:nvSpPr>
          <p:cNvPr id="6" name="Standing errors on labelled cabin scenes">
            <a:extLst xmlns:a="http://schemas.openxmlformats.org/drawingml/2006/main">
              <a:ext uri="{FF2B5EF4-FFF2-40B4-BE49-F238E27FC236}">
                <a16:creationId xmlns:a16="http://schemas.microsoft.com/office/drawing/2014/main" id="{51446E66-630B-4DC8-80CF-28DF72EF71BB}"/>
              </a:ext>
            </a:extLst>
          </p:cNvPr>
          <p:cNvSpPr>
            <a:spLocks xmlns:a="http://schemas.openxmlformats.org/drawingml/2006/main" noGrp="1"/>
          </p:cNvSpPr>
          <p:nvPr/>
        </p:nvSpPr>
        <p:spPr>
          <a:xfrm xmlns:a="http://schemas.openxmlformats.org/drawingml/2006/main">
            <a:off x="6724650" y="2486025"/>
            <a:ext cx="4781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8DFC1"/>
                </a:solidFill>
                <a:latin typeface="Arial"/>
                <a:ea typeface="Arial"/>
                <a:cs typeface="Arial"/>
              </a:defRPr>
            </a:pPr>
            <a:r>
              <a:rPr sz="2100" b="0">
                <a:solidFill>
                  <a:srgbClr val="C8DFC1"/>
                </a:solidFill>
                <a:latin typeface="Arial"/>
                <a:ea typeface="Arial"/>
                <a:cs typeface="Arial"/>
              </a:rPr>
              <a:t>Standing errors on labelled cabin scenes</a:t>
            </a:r>
          </a:p>
          <a:p xmlns:a="http://schemas.openxmlformats.org/drawingml/2006/main">
            <a:pPr algn="l">
              <a:defRPr sz="2100" b="0">
                <a:solidFill>
                  <a:srgbClr val="C8DFC1"/>
                </a:solidFill>
                <a:latin typeface="Arial"/>
                <a:ea typeface="Arial"/>
                <a:cs typeface="Arial"/>
              </a:defRPr>
            </a:pPr>
            <a:r>
              <a:rPr sz="2100" b="0">
                <a:solidFill>
                  <a:srgbClr val="C8DFC1"/>
                </a:solidFill>
                <a:latin typeface="Arial"/>
                <a:ea typeface="Arial"/>
                <a:cs typeface="Arial"/>
              </a:rPr>
              <a:t>Physical reader and Wi-Fi recovery</a:t>
            </a:r>
          </a:p>
          <a:p xmlns:a="http://schemas.openxmlformats.org/drawingml/2006/main">
            <a:pPr algn="l">
              <a:defRPr sz="2100" b="0">
                <a:solidFill>
                  <a:srgbClr val="C8DFC1"/>
                </a:solidFill>
                <a:latin typeface="Arial"/>
                <a:ea typeface="Arial"/>
                <a:cs typeface="Arial"/>
              </a:defRPr>
            </a:pPr>
            <a:r>
              <a:rPr sz="2100" b="0">
                <a:solidFill>
                  <a:srgbClr val="C8DFC1"/>
                </a:solidFill>
                <a:latin typeface="Arial"/>
                <a:ea typeface="Arial"/>
                <a:cs typeface="Arial"/>
              </a:rPr>
              <a:t>Usability with accessibility users</a:t>
            </a:r>
          </a:p>
        </p:txBody>
      </p:sp>
      <p:sp>
        <p:nvSpPr>
          <p:cNvPr id="7" name="The demonstration uses simulated doors, ">
            <a:extLst xmlns:a="http://schemas.openxmlformats.org/drawingml/2006/main">
              <a:ext uri="{FF2B5EF4-FFF2-40B4-BE49-F238E27FC236}">
                <a16:creationId xmlns:a16="http://schemas.microsoft.com/office/drawing/2014/main" id="{F6A440B4-C8F9-47AD-BDAE-55609D25E0E7}"/>
              </a:ext>
            </a:extLst>
          </p:cNvPr>
          <p:cNvSpPr>
            <a:spLocks xmlns:a="http://schemas.openxmlformats.org/drawingml/2006/main" noGrp="1"/>
          </p:cNvSpPr>
          <p:nvPr/>
        </p:nvSpPr>
        <p:spPr>
          <a:xfrm xmlns:a="http://schemas.openxmlformats.org/drawingml/2006/main">
            <a:off x="723900" y="49339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4FAEF"/>
                </a:solidFill>
                <a:latin typeface="Arial"/>
                <a:ea typeface="Arial"/>
                <a:cs typeface="Arial"/>
              </a:defRPr>
            </a:pPr>
            <a:r>
              <a:rPr sz="2175" b="0">
                <a:solidFill>
                  <a:srgbClr val="F4FAEF"/>
                </a:solidFill>
                <a:latin typeface="Arial"/>
                <a:ea typeface="Arial"/>
                <a:cs typeface="Arial"/>
              </a:rPr>
              <a:t>The demonstration uses simulated doors, ramp and motion.</a:t>
            </a:r>
          </a:p>
          <a:p xmlns:a="http://schemas.openxmlformats.org/drawingml/2006/main">
            <a:pPr algn="l">
              <a:defRPr sz="2175" b="0">
                <a:solidFill>
                  <a:srgbClr val="F4FAEF"/>
                </a:solidFill>
                <a:latin typeface="Arial"/>
                <a:ea typeface="Arial"/>
                <a:cs typeface="Arial"/>
              </a:defRPr>
            </a:pPr>
            <a:r>
              <a:rPr sz="2175" b="0">
                <a:solidFill>
                  <a:srgbClr val="F4FAEF"/>
                </a:solidFill>
                <a:latin typeface="Arial"/>
                <a:ea typeface="Arial"/>
                <a:cs typeface="Arial"/>
              </a:rPr>
              <a:t>We have not established real-bus accuracy or passenger satisfaction.</a:t>
            </a:r>
          </a:p>
        </p:txBody>
      </p:sp>
    </p:spTree>
    <p:extLst>
      <p:ext uri="{BB962C8B-B14F-4D97-AF65-F5344CB8AC3E}">
        <p14:creationId xmlns:p14="http://schemas.microsoft.com/office/powerpoint/2010/main" val="8650657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2026-09-29T03:20:51.6310000Z</dcterms:created>
  <dcterms:modified xsi:type="dcterms:W3CDTF">2026-09-29T03:20:51.6310000Z</dcterms:modified>
</coreProperties>
</file>